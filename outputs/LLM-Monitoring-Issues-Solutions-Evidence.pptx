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75" d="100"/>
          <a:sy n="75" d="100"/>
        </p:scale>
        <p:origin x="94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90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0DCC9D8-58B6-4E3E-8F87-291D53C630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244CDD-9379-4C24-B6C7-56C468B97CA1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rPr dirty="0"/>
              <a:t>LLM </a:t>
            </a:r>
            <a:r>
              <a:rPr dirty="0" smtClean="0"/>
              <a:t>MONITORING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1A241C-570E-4F1F-8845-C3040D088FE1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71437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420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AI moves fast.</a:t>
            </a:r>
          </a:p>
          <a:p>
            <a:pPr algn="l">
              <a:defRPr sz="420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Unmanaged AI fails faster.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C2A21E-247E-4B6D-BA1F-58E713FAE3CF}"/>
              </a:ext>
            </a:extLst>
          </p:cNvPr>
          <p:cNvSpPr>
            <a:spLocks noGrp="1"/>
          </p:cNvSpPr>
          <p:nvPr/>
        </p:nvSpPr>
        <p:spPr>
          <a:xfrm>
            <a:off x="552450" y="2781300"/>
            <a:ext cx="6762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80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rPr dirty="0"/>
              <a:t>Real incidents, research, and evidence from our Azure OpenAI RAG monitoring project.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768A285-3A4F-4EAC-AC10-F5C089FA04ED}"/>
              </a:ext>
            </a:extLst>
          </p:cNvPr>
          <p:cNvSpPr>
            <a:spLocks noGrp="1"/>
          </p:cNvSpPr>
          <p:nvPr/>
        </p:nvSpPr>
        <p:spPr>
          <a:xfrm>
            <a:off x="7796981" y="552450"/>
            <a:ext cx="3728269" cy="5602544"/>
          </a:xfrm>
          <a:prstGeom prst="roundRect">
            <a:avLst>
              <a:gd name="adj" fmla="val 2222"/>
            </a:avLst>
          </a:prstGeom>
          <a:solidFill>
            <a:srgbClr val="19243A"/>
          </a:solidFill>
          <a:ln w="19050">
            <a:solidFill>
              <a:srgbClr val="34415A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4259E9-B428-4FB0-B746-0F23C3E39CF1}"/>
              </a:ext>
            </a:extLst>
          </p:cNvPr>
          <p:cNvSpPr>
            <a:spLocks noGrp="1"/>
          </p:cNvSpPr>
          <p:nvPr/>
        </p:nvSpPr>
        <p:spPr>
          <a:xfrm>
            <a:off x="8142833" y="79057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rPr dirty="0"/>
              <a:t>THE HEADLINES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9A0AA1-B8B0-45A6-ADFF-A8D1CC01D890}"/>
              </a:ext>
            </a:extLst>
          </p:cNvPr>
          <p:cNvSpPr>
            <a:spLocks noGrp="1"/>
          </p:cNvSpPr>
          <p:nvPr/>
        </p:nvSpPr>
        <p:spPr>
          <a:xfrm>
            <a:off x="8142833" y="1162050"/>
            <a:ext cx="2857500" cy="9525"/>
          </a:xfrm>
          <a:prstGeom prst="rect">
            <a:avLst/>
          </a:prstGeom>
          <a:solidFill>
            <a:srgbClr val="3B4861"/>
          </a:solidFill>
          <a:ln w="0">
            <a:solidFill>
              <a:srgbClr val="3B4861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4CE0DD-B6AD-4AE7-9F85-6E4DBE5EB419}"/>
              </a:ext>
            </a:extLst>
          </p:cNvPr>
          <p:cNvSpPr>
            <a:spLocks noGrp="1"/>
          </p:cNvSpPr>
          <p:nvPr/>
        </p:nvSpPr>
        <p:spPr>
          <a:xfrm>
            <a:off x="8142833" y="1257300"/>
            <a:ext cx="762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rPr dirty="0"/>
              <a:t>COST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60DCE1-9FE8-4E40-8FA0-AAC94EF88041}"/>
              </a:ext>
            </a:extLst>
          </p:cNvPr>
          <p:cNvSpPr>
            <a:spLocks noGrp="1"/>
          </p:cNvSpPr>
          <p:nvPr/>
        </p:nvSpPr>
        <p:spPr>
          <a:xfrm>
            <a:off x="9208363" y="1219200"/>
            <a:ext cx="2000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rPr dirty="0"/>
              <a:t>Reported $500M month</a:t>
            </a:r>
          </a:p>
          <a:p>
            <a:pPr algn="l">
              <a:defRPr sz="135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rPr dirty="0"/>
              <a:t>without usage limits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E9F0EC-9CAF-4F09-9AA4-80B1E1A17F6E}"/>
              </a:ext>
            </a:extLst>
          </p:cNvPr>
          <p:cNvSpPr>
            <a:spLocks noGrp="1"/>
          </p:cNvSpPr>
          <p:nvPr/>
        </p:nvSpPr>
        <p:spPr>
          <a:xfrm>
            <a:off x="8142833" y="2162175"/>
            <a:ext cx="2857500" cy="9525"/>
          </a:xfrm>
          <a:prstGeom prst="rect">
            <a:avLst/>
          </a:prstGeom>
          <a:solidFill>
            <a:srgbClr val="3B4861"/>
          </a:solidFill>
          <a:ln w="0">
            <a:solidFill>
              <a:srgbClr val="3B4861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EFEC16-9867-453F-BACA-5F009D21F99C}"/>
              </a:ext>
            </a:extLst>
          </p:cNvPr>
          <p:cNvSpPr>
            <a:spLocks noGrp="1"/>
          </p:cNvSpPr>
          <p:nvPr/>
        </p:nvSpPr>
        <p:spPr>
          <a:xfrm>
            <a:off x="8142833" y="2257425"/>
            <a:ext cx="762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QUALITY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6072C-D948-4216-A760-04B333762D78}"/>
              </a:ext>
            </a:extLst>
          </p:cNvPr>
          <p:cNvSpPr>
            <a:spLocks noGrp="1"/>
          </p:cNvSpPr>
          <p:nvPr/>
        </p:nvSpPr>
        <p:spPr>
          <a:xfrm>
            <a:off x="9208363" y="2219325"/>
            <a:ext cx="2000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rPr dirty="0"/>
              <a:t>Fluent output can still</a:t>
            </a:r>
          </a:p>
          <a:p>
            <a:pPr algn="l">
              <a:defRPr sz="135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rPr dirty="0"/>
              <a:t>be ungrounded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A9D47F-ED86-4C86-96F5-2542DF61E8A8}"/>
              </a:ext>
            </a:extLst>
          </p:cNvPr>
          <p:cNvSpPr>
            <a:spLocks noGrp="1"/>
          </p:cNvSpPr>
          <p:nvPr/>
        </p:nvSpPr>
        <p:spPr>
          <a:xfrm>
            <a:off x="8142833" y="3162300"/>
            <a:ext cx="2857500" cy="9525"/>
          </a:xfrm>
          <a:prstGeom prst="rect">
            <a:avLst/>
          </a:prstGeom>
          <a:solidFill>
            <a:srgbClr val="3B4861"/>
          </a:solidFill>
          <a:ln w="0">
            <a:solidFill>
              <a:srgbClr val="3B4861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3EAC4A-0ACD-432D-972E-3B07E18FE8B3}"/>
              </a:ext>
            </a:extLst>
          </p:cNvPr>
          <p:cNvSpPr>
            <a:spLocks noGrp="1"/>
          </p:cNvSpPr>
          <p:nvPr/>
        </p:nvSpPr>
        <p:spPr>
          <a:xfrm>
            <a:off x="8142833" y="3257550"/>
            <a:ext cx="957988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rPr dirty="0"/>
              <a:t>RELIABILITY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DF0C83-49A5-4423-8AC2-6740F3FE1E77}"/>
              </a:ext>
            </a:extLst>
          </p:cNvPr>
          <p:cNvSpPr>
            <a:spLocks noGrp="1"/>
          </p:cNvSpPr>
          <p:nvPr/>
        </p:nvSpPr>
        <p:spPr>
          <a:xfrm>
            <a:off x="9208363" y="3219450"/>
            <a:ext cx="2000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156 severe inference</a:t>
            </a:r>
          </a:p>
          <a:p>
            <a:pPr algn="l">
              <a:defRPr sz="135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incidents studied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84204D-5B60-4E61-BDC4-FDC2ABE703F1}"/>
              </a:ext>
            </a:extLst>
          </p:cNvPr>
          <p:cNvSpPr>
            <a:spLocks noGrp="1"/>
          </p:cNvSpPr>
          <p:nvPr/>
        </p:nvSpPr>
        <p:spPr>
          <a:xfrm>
            <a:off x="8142833" y="4162425"/>
            <a:ext cx="2857500" cy="9525"/>
          </a:xfrm>
          <a:prstGeom prst="rect">
            <a:avLst/>
          </a:prstGeom>
          <a:solidFill>
            <a:srgbClr val="3B4861"/>
          </a:solidFill>
          <a:ln w="0">
            <a:solidFill>
              <a:srgbClr val="3B4861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C298A-2423-4EC8-BE11-32A960810F13}"/>
              </a:ext>
            </a:extLst>
          </p:cNvPr>
          <p:cNvSpPr>
            <a:spLocks noGrp="1"/>
          </p:cNvSpPr>
          <p:nvPr/>
        </p:nvSpPr>
        <p:spPr>
          <a:xfrm>
            <a:off x="8142833" y="4257675"/>
            <a:ext cx="762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VALUE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7274CE-EAC0-413D-A256-FB57EAAF9D03}"/>
              </a:ext>
            </a:extLst>
          </p:cNvPr>
          <p:cNvSpPr>
            <a:spLocks noGrp="1"/>
          </p:cNvSpPr>
          <p:nvPr/>
        </p:nvSpPr>
        <p:spPr>
          <a:xfrm>
            <a:off x="9208363" y="4219575"/>
            <a:ext cx="2000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50,000 daily messages</a:t>
            </a:r>
          </a:p>
          <a:p>
            <a:pPr algn="l">
              <a:defRPr sz="135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with human review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C42B34-451F-4721-892B-A50EA6A73E82}"/>
              </a:ext>
            </a:extLst>
          </p:cNvPr>
          <p:cNvSpPr>
            <a:spLocks noGrp="1"/>
          </p:cNvSpPr>
          <p:nvPr/>
        </p:nvSpPr>
        <p:spPr>
          <a:xfrm>
            <a:off x="7952333" y="5276850"/>
            <a:ext cx="3238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87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rPr dirty="0"/>
              <a:t>The answer is not less AI.</a:t>
            </a:r>
          </a:p>
          <a:p>
            <a:pPr algn="ctr">
              <a:defRPr sz="187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rPr dirty="0"/>
              <a:t>It is observable, governed AI.</a:t>
            </a:r>
          </a:p>
        </p:txBody>
      </p:sp>
    </p:spTree>
    <p:extLst>
      <p:ext uri="{BB962C8B-B14F-4D97-AF65-F5344CB8AC3E}">
        <p14:creationId xmlns:p14="http://schemas.microsoft.com/office/powerpoint/2010/main" val="1550816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508345F-8BDF-46B6-8F84-E69165B8E7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F7F3EA"/>
            </a:solidFill>
          </a:ln>
        </p:spPr>
      </p:sp>
      <p:sp>
        <p:nvSpPr>
          <p:cNvPr id="2" name="kicker-2-marker">
            <a:extLst>
              <a:ext uri="{FF2B5EF4-FFF2-40B4-BE49-F238E27FC236}">
                <a16:creationId xmlns:a16="http://schemas.microsoft.com/office/drawing/2014/main" id="{46AF85F2-A0AC-4838-9494-0CE01397B253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" name="kicker-2-label">
            <a:extLst>
              <a:ext uri="{FF2B5EF4-FFF2-40B4-BE49-F238E27FC236}">
                <a16:creationId xmlns:a16="http://schemas.microsoft.com/office/drawing/2014/main" id="{4EC600F3-64E1-4BC3-9B67-ACC38EDD194C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dirty="0" smtClean="0"/>
              <a:t>EXTERNAL EVIDENCE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B3FBBB-29DF-48A0-AB95-E6B32D6B425C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15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The evidence points to four risks businesses cannot manage blindly.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0A74C51-EAB9-48D2-BEF1-4D9C92E73322}"/>
              </a:ext>
            </a:extLst>
          </p:cNvPr>
          <p:cNvSpPr>
            <a:spLocks noGrp="1"/>
          </p:cNvSpPr>
          <p:nvPr/>
        </p:nvSpPr>
        <p:spPr>
          <a:xfrm>
            <a:off x="495300" y="2000250"/>
            <a:ext cx="542925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9B8AFB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99E6D7-33A6-42AE-AF6C-27C4A84E6C36}"/>
              </a:ext>
            </a:extLst>
          </p:cNvPr>
          <p:cNvSpPr>
            <a:spLocks noGrp="1"/>
          </p:cNvSpPr>
          <p:nvPr/>
        </p:nvSpPr>
        <p:spPr>
          <a:xfrm>
            <a:off x="723900" y="2171700"/>
            <a:ext cx="1047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TRUST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EF5334-7C74-4E0D-9405-37874601B3DF}"/>
              </a:ext>
            </a:extLst>
          </p:cNvPr>
          <p:cNvSpPr>
            <a:spLocks noGrp="1"/>
          </p:cNvSpPr>
          <p:nvPr/>
        </p:nvSpPr>
        <p:spPr>
          <a:xfrm>
            <a:off x="723900" y="2486025"/>
            <a:ext cx="3143250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NIST calls for trustworthiness across design, use, and evaluation.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DC967F-B1E4-4845-95F4-63027330CF7A}"/>
              </a:ext>
            </a:extLst>
          </p:cNvPr>
          <p:cNvSpPr>
            <a:spLocks noGrp="1"/>
          </p:cNvSpPr>
          <p:nvPr/>
        </p:nvSpPr>
        <p:spPr>
          <a:xfrm>
            <a:off x="4067175" y="2505075"/>
            <a:ext cx="157162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65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Hallucination</a:t>
            </a:r>
          </a:p>
          <a:p>
            <a:pPr algn="ctr">
              <a:defRPr sz="165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unsafe 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54E79B-D5E3-458F-B3D8-A524BA710B28}"/>
              </a:ext>
            </a:extLst>
          </p:cNvPr>
          <p:cNvSpPr>
            <a:spLocks noGrp="1"/>
          </p:cNvSpPr>
          <p:nvPr/>
        </p:nvSpPr>
        <p:spPr>
          <a:xfrm>
            <a:off x="5067300" y="3286125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S1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7C15809-EB33-4358-A221-1924274CDA7E}"/>
              </a:ext>
            </a:extLst>
          </p:cNvPr>
          <p:cNvSpPr>
            <a:spLocks noGrp="1"/>
          </p:cNvSpPr>
          <p:nvPr/>
        </p:nvSpPr>
        <p:spPr>
          <a:xfrm>
            <a:off x="6248400" y="2000250"/>
            <a:ext cx="542925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F675C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DE0E79-5AF1-4535-870F-18386D1054DA}"/>
              </a:ext>
            </a:extLst>
          </p:cNvPr>
          <p:cNvSpPr>
            <a:spLocks noGrp="1"/>
          </p:cNvSpPr>
          <p:nvPr/>
        </p:nvSpPr>
        <p:spPr>
          <a:xfrm>
            <a:off x="6477000" y="2171700"/>
            <a:ext cx="1047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SECURITY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9B510D-FDCA-4B97-AF35-B6C15D64C688}"/>
              </a:ext>
            </a:extLst>
          </p:cNvPr>
          <p:cNvSpPr>
            <a:spLocks noGrp="1"/>
          </p:cNvSpPr>
          <p:nvPr/>
        </p:nvSpPr>
        <p:spPr>
          <a:xfrm>
            <a:off x="6477000" y="2486025"/>
            <a:ext cx="3143250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OWASP identifies prompt injection, disclosure, denial of service, and overreliance.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7EB0C6-B966-4708-8857-C1528D734DAA}"/>
              </a:ext>
            </a:extLst>
          </p:cNvPr>
          <p:cNvSpPr>
            <a:spLocks noGrp="1"/>
          </p:cNvSpPr>
          <p:nvPr/>
        </p:nvSpPr>
        <p:spPr>
          <a:xfrm>
            <a:off x="9820275" y="2505075"/>
            <a:ext cx="157162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65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Data leakage</a:t>
            </a:r>
          </a:p>
          <a:p>
            <a:pPr algn="ctr">
              <a:defRPr sz="165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resource abuse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74F146-BA5B-4812-BE7D-ABAB9E2FF087}"/>
              </a:ext>
            </a:extLst>
          </p:cNvPr>
          <p:cNvSpPr>
            <a:spLocks noGrp="1"/>
          </p:cNvSpPr>
          <p:nvPr/>
        </p:nvSpPr>
        <p:spPr>
          <a:xfrm>
            <a:off x="10820400" y="3286125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S3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47C58DA-BBBC-4BF7-AC0E-F9764FD93BB8}"/>
              </a:ext>
            </a:extLst>
          </p:cNvPr>
          <p:cNvSpPr>
            <a:spLocks noGrp="1"/>
          </p:cNvSpPr>
          <p:nvPr/>
        </p:nvSpPr>
        <p:spPr>
          <a:xfrm>
            <a:off x="495300" y="3952875"/>
            <a:ext cx="542925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C8F56A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AA7609-78DB-4E18-A138-CAC6B1736B2F}"/>
              </a:ext>
            </a:extLst>
          </p:cNvPr>
          <p:cNvSpPr>
            <a:spLocks noGrp="1"/>
          </p:cNvSpPr>
          <p:nvPr/>
        </p:nvSpPr>
        <p:spPr>
          <a:xfrm>
            <a:off x="723900" y="4124325"/>
            <a:ext cx="1047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COST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2A51F7-AB9D-43E5-AFA9-1FFABEA99FEC}"/>
              </a:ext>
            </a:extLst>
          </p:cNvPr>
          <p:cNvSpPr>
            <a:spLocks noGrp="1"/>
          </p:cNvSpPr>
          <p:nvPr/>
        </p:nvSpPr>
        <p:spPr>
          <a:xfrm>
            <a:off x="723900" y="4438650"/>
            <a:ext cx="3143250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An anonymous report claims one company spent $500M in a month without limits.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27646B-1499-4FA5-8E23-49AD1A02F2C8}"/>
              </a:ext>
            </a:extLst>
          </p:cNvPr>
          <p:cNvSpPr>
            <a:spLocks noGrp="1"/>
          </p:cNvSpPr>
          <p:nvPr/>
        </p:nvSpPr>
        <p:spPr>
          <a:xfrm>
            <a:off x="4067175" y="4457700"/>
            <a:ext cx="157162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65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Usage without</a:t>
            </a:r>
          </a:p>
          <a:p>
            <a:pPr algn="ctr">
              <a:defRPr sz="165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budgets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E9E09A-E066-4C14-A538-E981E5865601}"/>
              </a:ext>
            </a:extLst>
          </p:cNvPr>
          <p:cNvSpPr>
            <a:spLocks noGrp="1"/>
          </p:cNvSpPr>
          <p:nvPr/>
        </p:nvSpPr>
        <p:spPr>
          <a:xfrm>
            <a:off x="5067300" y="52387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S4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EE60E43-9545-4586-9B38-B266ED3313EA}"/>
              </a:ext>
            </a:extLst>
          </p:cNvPr>
          <p:cNvSpPr>
            <a:spLocks noGrp="1"/>
          </p:cNvSpPr>
          <p:nvPr/>
        </p:nvSpPr>
        <p:spPr>
          <a:xfrm>
            <a:off x="6248400" y="3952875"/>
            <a:ext cx="542925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5AD2E6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3A2B82-F863-43B7-8871-68A8353B358D}"/>
              </a:ext>
            </a:extLst>
          </p:cNvPr>
          <p:cNvSpPr>
            <a:spLocks noGrp="1"/>
          </p:cNvSpPr>
          <p:nvPr/>
        </p:nvSpPr>
        <p:spPr>
          <a:xfrm>
            <a:off x="6477000" y="4124325"/>
            <a:ext cx="1047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UPTIME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9C5EDC-18EE-4277-BFED-DD9DB3369DA2}"/>
              </a:ext>
            </a:extLst>
          </p:cNvPr>
          <p:cNvSpPr>
            <a:spLocks noGrp="1"/>
          </p:cNvSpPr>
          <p:nvPr/>
        </p:nvSpPr>
        <p:spPr>
          <a:xfrm>
            <a:off x="6477000" y="4438650"/>
            <a:ext cx="3143250" cy="809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Research analyzed 156 high-severity inference incidents; engine failures dominated.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710A4-DD4F-4E12-9BE9-DFC46F8DFFDC}"/>
              </a:ext>
            </a:extLst>
          </p:cNvPr>
          <p:cNvSpPr>
            <a:spLocks noGrp="1"/>
          </p:cNvSpPr>
          <p:nvPr/>
        </p:nvSpPr>
        <p:spPr>
          <a:xfrm>
            <a:off x="9820275" y="4457700"/>
            <a:ext cx="157162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65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Timeouts</a:t>
            </a:r>
          </a:p>
          <a:p>
            <a:pPr algn="ctr">
              <a:defRPr sz="165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service impact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19487C-1872-42FD-8DEF-8E98A917183C}"/>
              </a:ext>
            </a:extLst>
          </p:cNvPr>
          <p:cNvSpPr>
            <a:spLocks noGrp="1"/>
          </p:cNvSpPr>
          <p:nvPr/>
        </p:nvSpPr>
        <p:spPr>
          <a:xfrm>
            <a:off x="10820400" y="52387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S5-S6</a:t>
            </a:r>
          </a:p>
        </p:txBody>
      </p:sp>
    </p:spTree>
    <p:extLst>
      <p:ext uri="{BB962C8B-B14F-4D97-AF65-F5344CB8AC3E}">
        <p14:creationId xmlns:p14="http://schemas.microsoft.com/office/powerpoint/2010/main" val="664686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D4EB0FC4-F64D-49CD-BAE9-91B77E0622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" name="kicker-3-marker">
            <a:extLst>
              <a:ext uri="{FF2B5EF4-FFF2-40B4-BE49-F238E27FC236}">
                <a16:creationId xmlns:a16="http://schemas.microsoft.com/office/drawing/2014/main" id="{D9D1FB82-5037-4239-B291-CAD4E5D84160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" name="kicker-3-label">
            <a:extLst>
              <a:ext uri="{FF2B5EF4-FFF2-40B4-BE49-F238E27FC236}">
                <a16:creationId xmlns:a16="http://schemas.microsoft.com/office/drawing/2014/main" id="{16204F2B-BD2D-4A23-9C04-1DD8380901C8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WHY ESSENTIAL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005DB0-F3AF-46ED-98C4-2AC9EC19FECC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15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The final answer hides the chain of decisions that produced it.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2BC2BFE-25CF-4E7A-A8EB-256D3CD2F07A}"/>
              </a:ext>
            </a:extLst>
          </p:cNvPr>
          <p:cNvSpPr>
            <a:spLocks noGrp="1"/>
          </p:cNvSpPr>
          <p:nvPr/>
        </p:nvSpPr>
        <p:spPr>
          <a:xfrm>
            <a:off x="523875" y="2476500"/>
            <a:ext cx="1762125" cy="1104900"/>
          </a:xfrm>
          <a:prstGeom prst="roundRect">
            <a:avLst>
              <a:gd name="adj" fmla="val 6897"/>
            </a:avLst>
          </a:prstGeom>
          <a:solidFill>
            <a:srgbClr val="19243A"/>
          </a:solidFill>
          <a:ln w="19050">
            <a:solidFill>
              <a:srgbClr val="41506B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ED2DBD-F376-4E0A-A54D-C6E1214ED335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1476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USER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75C2DA-BB67-42BC-9228-C44EF1C9573B}"/>
              </a:ext>
            </a:extLst>
          </p:cNvPr>
          <p:cNvSpPr>
            <a:spLocks noGrp="1"/>
          </p:cNvSpPr>
          <p:nvPr/>
        </p:nvSpPr>
        <p:spPr>
          <a:xfrm>
            <a:off x="666750" y="3028950"/>
            <a:ext cx="1476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query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D3CE47-FF1A-4C04-B970-526F222ECE25}"/>
              </a:ext>
            </a:extLst>
          </p:cNvPr>
          <p:cNvSpPr>
            <a:spLocks noGrp="1"/>
          </p:cNvSpPr>
          <p:nvPr/>
        </p:nvSpPr>
        <p:spPr>
          <a:xfrm>
            <a:off x="2286000" y="3009900"/>
            <a:ext cx="457200" cy="38100"/>
          </a:xfrm>
          <a:prstGeom prst="rect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2C831254-5CEA-4DAD-96B4-F06A838C1B28}"/>
              </a:ext>
            </a:extLst>
          </p:cNvPr>
          <p:cNvSpPr>
            <a:spLocks noGrp="1"/>
          </p:cNvSpPr>
          <p:nvPr/>
        </p:nvSpPr>
        <p:spPr>
          <a:xfrm rot="5400000">
            <a:off x="2705100" y="2933700"/>
            <a:ext cx="171450" cy="190500"/>
          </a:xfrm>
          <a:prstGeom prst="triangle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192E431-60FE-4040-91C7-9996957CDF80}"/>
              </a:ext>
            </a:extLst>
          </p:cNvPr>
          <p:cNvSpPr>
            <a:spLocks noGrp="1"/>
          </p:cNvSpPr>
          <p:nvPr/>
        </p:nvSpPr>
        <p:spPr>
          <a:xfrm>
            <a:off x="2809875" y="2476500"/>
            <a:ext cx="1762125" cy="1104900"/>
          </a:xfrm>
          <a:prstGeom prst="roundRect">
            <a:avLst>
              <a:gd name="adj" fmla="val 6897"/>
            </a:avLst>
          </a:prstGeom>
          <a:solidFill>
            <a:srgbClr val="19243A"/>
          </a:solidFill>
          <a:ln w="19050">
            <a:solidFill>
              <a:srgbClr val="41506B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331A89-461B-45FD-B56A-A8A1CE1E0319}"/>
              </a:ext>
            </a:extLst>
          </p:cNvPr>
          <p:cNvSpPr>
            <a:spLocks noGrp="1"/>
          </p:cNvSpPr>
          <p:nvPr/>
        </p:nvSpPr>
        <p:spPr>
          <a:xfrm>
            <a:off x="2952750" y="2647950"/>
            <a:ext cx="1476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RETRIEVAL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EA27F3-2AE6-4045-8200-CA8499D37420}"/>
              </a:ext>
            </a:extLst>
          </p:cNvPr>
          <p:cNvSpPr>
            <a:spLocks noGrp="1"/>
          </p:cNvSpPr>
          <p:nvPr/>
        </p:nvSpPr>
        <p:spPr>
          <a:xfrm>
            <a:off x="2952750" y="3028950"/>
            <a:ext cx="1476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chunks + scores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2C68F8-24DA-40FF-A49B-82812D8F6F73}"/>
              </a:ext>
            </a:extLst>
          </p:cNvPr>
          <p:cNvSpPr>
            <a:spLocks noGrp="1"/>
          </p:cNvSpPr>
          <p:nvPr/>
        </p:nvSpPr>
        <p:spPr>
          <a:xfrm>
            <a:off x="4572000" y="3009900"/>
            <a:ext cx="457200" cy="38100"/>
          </a:xfrm>
          <a:prstGeom prst="rect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90EBE3E-8A94-49ED-840A-39C7063D35B7}"/>
              </a:ext>
            </a:extLst>
          </p:cNvPr>
          <p:cNvSpPr>
            <a:spLocks noGrp="1"/>
          </p:cNvSpPr>
          <p:nvPr/>
        </p:nvSpPr>
        <p:spPr>
          <a:xfrm rot="5400000">
            <a:off x="4991100" y="2933700"/>
            <a:ext cx="171450" cy="190500"/>
          </a:xfrm>
          <a:prstGeom prst="triangle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6BE37D2-82DD-43C3-A527-DB3A4BB4181A}"/>
              </a:ext>
            </a:extLst>
          </p:cNvPr>
          <p:cNvSpPr>
            <a:spLocks noGrp="1"/>
          </p:cNvSpPr>
          <p:nvPr/>
        </p:nvSpPr>
        <p:spPr>
          <a:xfrm>
            <a:off x="5095875" y="2476500"/>
            <a:ext cx="1762125" cy="1104900"/>
          </a:xfrm>
          <a:prstGeom prst="roundRect">
            <a:avLst>
              <a:gd name="adj" fmla="val 6897"/>
            </a:avLst>
          </a:prstGeom>
          <a:solidFill>
            <a:srgbClr val="19243A"/>
          </a:solidFill>
          <a:ln w="19050">
            <a:solidFill>
              <a:srgbClr val="41506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D21BB9-B2BF-4E1F-AA43-4A22D506A2C2}"/>
              </a:ext>
            </a:extLst>
          </p:cNvPr>
          <p:cNvSpPr>
            <a:spLocks noGrp="1"/>
          </p:cNvSpPr>
          <p:nvPr/>
        </p:nvSpPr>
        <p:spPr>
          <a:xfrm>
            <a:off x="5238750" y="2647950"/>
            <a:ext cx="1476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PROMPT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7ABE5C-9005-4CD6-8877-9CF59BE5488C}"/>
              </a:ext>
            </a:extLst>
          </p:cNvPr>
          <p:cNvSpPr>
            <a:spLocks noGrp="1"/>
          </p:cNvSpPr>
          <p:nvPr/>
        </p:nvSpPr>
        <p:spPr>
          <a:xfrm>
            <a:off x="5238750" y="3028950"/>
            <a:ext cx="1476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version + context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695405-C63C-497D-B467-9DD7E535DF37}"/>
              </a:ext>
            </a:extLst>
          </p:cNvPr>
          <p:cNvSpPr>
            <a:spLocks noGrp="1"/>
          </p:cNvSpPr>
          <p:nvPr/>
        </p:nvSpPr>
        <p:spPr>
          <a:xfrm>
            <a:off x="6858000" y="3009900"/>
            <a:ext cx="457200" cy="38100"/>
          </a:xfrm>
          <a:prstGeom prst="rect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17D3F788-3E87-4AFE-AC53-1F991625E30C}"/>
              </a:ext>
            </a:extLst>
          </p:cNvPr>
          <p:cNvSpPr>
            <a:spLocks noGrp="1"/>
          </p:cNvSpPr>
          <p:nvPr/>
        </p:nvSpPr>
        <p:spPr>
          <a:xfrm rot="5400000">
            <a:off x="7277100" y="2933700"/>
            <a:ext cx="171450" cy="190500"/>
          </a:xfrm>
          <a:prstGeom prst="triangle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759A85E-1B8A-483E-A1EE-6682482427BC}"/>
              </a:ext>
            </a:extLst>
          </p:cNvPr>
          <p:cNvSpPr>
            <a:spLocks noGrp="1"/>
          </p:cNvSpPr>
          <p:nvPr/>
        </p:nvSpPr>
        <p:spPr>
          <a:xfrm>
            <a:off x="7381875" y="2476500"/>
            <a:ext cx="1762125" cy="1104900"/>
          </a:xfrm>
          <a:prstGeom prst="roundRect">
            <a:avLst>
              <a:gd name="adj" fmla="val 6897"/>
            </a:avLst>
          </a:prstGeom>
          <a:solidFill>
            <a:srgbClr val="19243A"/>
          </a:solidFill>
          <a:ln w="19050">
            <a:solidFill>
              <a:srgbClr val="41506B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DA3CC5-1F2D-40FC-A5C7-31DA86C039D6}"/>
              </a:ext>
            </a:extLst>
          </p:cNvPr>
          <p:cNvSpPr>
            <a:spLocks noGrp="1"/>
          </p:cNvSpPr>
          <p:nvPr/>
        </p:nvSpPr>
        <p:spPr>
          <a:xfrm>
            <a:off x="7524750" y="2647950"/>
            <a:ext cx="1476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AZURE LLM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53AD58-C4F3-4F14-8CD7-97B7BE028B85}"/>
              </a:ext>
            </a:extLst>
          </p:cNvPr>
          <p:cNvSpPr>
            <a:spLocks noGrp="1"/>
          </p:cNvSpPr>
          <p:nvPr/>
        </p:nvSpPr>
        <p:spPr>
          <a:xfrm>
            <a:off x="7524750" y="3028950"/>
            <a:ext cx="1476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tokens + latency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6E05FB-E7AD-49CE-A8B0-C191E421C72F}"/>
              </a:ext>
            </a:extLst>
          </p:cNvPr>
          <p:cNvSpPr>
            <a:spLocks noGrp="1"/>
          </p:cNvSpPr>
          <p:nvPr/>
        </p:nvSpPr>
        <p:spPr>
          <a:xfrm>
            <a:off x="9144000" y="3009900"/>
            <a:ext cx="457200" cy="38100"/>
          </a:xfrm>
          <a:prstGeom prst="rect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0C3B7563-AF68-4364-B82C-5F5A639A5634}"/>
              </a:ext>
            </a:extLst>
          </p:cNvPr>
          <p:cNvSpPr>
            <a:spLocks noGrp="1"/>
          </p:cNvSpPr>
          <p:nvPr/>
        </p:nvSpPr>
        <p:spPr>
          <a:xfrm rot="5400000">
            <a:off x="9563100" y="2933700"/>
            <a:ext cx="171450" cy="190500"/>
          </a:xfrm>
          <a:prstGeom prst="triangle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9EFE065-B6B6-4E8F-A96C-32A398A0701E}"/>
              </a:ext>
            </a:extLst>
          </p:cNvPr>
          <p:cNvSpPr>
            <a:spLocks noGrp="1"/>
          </p:cNvSpPr>
          <p:nvPr/>
        </p:nvSpPr>
        <p:spPr>
          <a:xfrm>
            <a:off x="9667875" y="2476500"/>
            <a:ext cx="1762125" cy="1104900"/>
          </a:xfrm>
          <a:prstGeom prst="roundRect">
            <a:avLst>
              <a:gd name="adj" fmla="val 6897"/>
            </a:avLst>
          </a:prstGeom>
          <a:solidFill>
            <a:srgbClr val="C8F56A"/>
          </a:solidFill>
          <a:ln w="19050">
            <a:solidFill>
              <a:srgbClr val="C8F56A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69D80D-562D-42E9-A837-73364C29AC38}"/>
              </a:ext>
            </a:extLst>
          </p:cNvPr>
          <p:cNvSpPr>
            <a:spLocks noGrp="1"/>
          </p:cNvSpPr>
          <p:nvPr/>
        </p:nvSpPr>
        <p:spPr>
          <a:xfrm>
            <a:off x="9810750" y="2647950"/>
            <a:ext cx="1476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OUTPUT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572581-51E6-4526-8F10-29D83D08B06A}"/>
              </a:ext>
            </a:extLst>
          </p:cNvPr>
          <p:cNvSpPr>
            <a:spLocks noGrp="1"/>
          </p:cNvSpPr>
          <p:nvPr/>
        </p:nvSpPr>
        <p:spPr>
          <a:xfrm>
            <a:off x="9810750" y="3028950"/>
            <a:ext cx="1476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quality + safety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00B8A4-DA24-4802-B1FC-0E6593EA734A}"/>
              </a:ext>
            </a:extLst>
          </p:cNvPr>
          <p:cNvSpPr>
            <a:spLocks noGrp="1"/>
          </p:cNvSpPr>
          <p:nvPr/>
        </p:nvSpPr>
        <p:spPr>
          <a:xfrm>
            <a:off x="1666875" y="3581400"/>
            <a:ext cx="19050" cy="666750"/>
          </a:xfrm>
          <a:prstGeom prst="rect">
            <a:avLst/>
          </a:prstGeom>
          <a:solidFill>
            <a:srgbClr val="9B8AFB"/>
          </a:solidFill>
          <a:ln w="0">
            <a:solidFill>
              <a:srgbClr val="9B8AFB"/>
            </a:solidFill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621CEEB-FCA7-43A4-9F85-91FDA9871106}"/>
              </a:ext>
            </a:extLst>
          </p:cNvPr>
          <p:cNvSpPr>
            <a:spLocks noGrp="1"/>
          </p:cNvSpPr>
          <p:nvPr/>
        </p:nvSpPr>
        <p:spPr>
          <a:xfrm>
            <a:off x="1562100" y="4191000"/>
            <a:ext cx="228600" cy="228600"/>
          </a:xfrm>
          <a:prstGeom prst="ellipse">
            <a:avLst/>
          </a:prstGeom>
          <a:solidFill>
            <a:srgbClr val="9B8AFB"/>
          </a:solidFill>
          <a:ln w="0">
            <a:solidFill>
              <a:srgbClr val="9B8AFB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ED647D-2FEA-48FA-A9A2-731B6AFA3DC9}"/>
              </a:ext>
            </a:extLst>
          </p:cNvPr>
          <p:cNvSpPr>
            <a:spLocks noGrp="1"/>
          </p:cNvSpPr>
          <p:nvPr/>
        </p:nvSpPr>
        <p:spPr>
          <a:xfrm>
            <a:off x="1076325" y="4467225"/>
            <a:ext cx="1200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wrong source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4DDDE5-DB3F-4D21-B4DB-46D4457C29E5}"/>
              </a:ext>
            </a:extLst>
          </p:cNvPr>
          <p:cNvSpPr>
            <a:spLocks noGrp="1"/>
          </p:cNvSpPr>
          <p:nvPr/>
        </p:nvSpPr>
        <p:spPr>
          <a:xfrm>
            <a:off x="3952875" y="3581400"/>
            <a:ext cx="19050" cy="666750"/>
          </a:xfrm>
          <a:prstGeom prst="rect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EA8783F-61EC-4CA6-B9D8-EC2F7AE4063C}"/>
              </a:ext>
            </a:extLst>
          </p:cNvPr>
          <p:cNvSpPr>
            <a:spLocks noGrp="1"/>
          </p:cNvSpPr>
          <p:nvPr/>
        </p:nvSpPr>
        <p:spPr>
          <a:xfrm>
            <a:off x="3848100" y="4191000"/>
            <a:ext cx="228600" cy="228600"/>
          </a:xfrm>
          <a:prstGeom prst="ellipse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87332E-3686-4877-B4CE-C88DB7117A01}"/>
              </a:ext>
            </a:extLst>
          </p:cNvPr>
          <p:cNvSpPr>
            <a:spLocks noGrp="1"/>
          </p:cNvSpPr>
          <p:nvPr/>
        </p:nvSpPr>
        <p:spPr>
          <a:xfrm>
            <a:off x="3362325" y="4467225"/>
            <a:ext cx="1200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prompt attack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12F3F7-DC82-4D60-8F42-E74634EA6442}"/>
              </a:ext>
            </a:extLst>
          </p:cNvPr>
          <p:cNvSpPr>
            <a:spLocks noGrp="1"/>
          </p:cNvSpPr>
          <p:nvPr/>
        </p:nvSpPr>
        <p:spPr>
          <a:xfrm>
            <a:off x="6238875" y="3581400"/>
            <a:ext cx="19050" cy="666750"/>
          </a:xfrm>
          <a:prstGeom prst="rect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5F6F680-64B4-437E-ABA7-7F0DA77AFC99}"/>
              </a:ext>
            </a:extLst>
          </p:cNvPr>
          <p:cNvSpPr>
            <a:spLocks noGrp="1"/>
          </p:cNvSpPr>
          <p:nvPr/>
        </p:nvSpPr>
        <p:spPr>
          <a:xfrm>
            <a:off x="6134100" y="4191000"/>
            <a:ext cx="228600" cy="2286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49D498-64C4-4487-802C-D75DF3573354}"/>
              </a:ext>
            </a:extLst>
          </p:cNvPr>
          <p:cNvSpPr>
            <a:spLocks noGrp="1"/>
          </p:cNvSpPr>
          <p:nvPr/>
        </p:nvSpPr>
        <p:spPr>
          <a:xfrm>
            <a:off x="5648325" y="4467225"/>
            <a:ext cx="1200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cost spike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F1F6874-4CC4-42CF-89CE-5D99E594F476}"/>
              </a:ext>
            </a:extLst>
          </p:cNvPr>
          <p:cNvSpPr>
            <a:spLocks noGrp="1"/>
          </p:cNvSpPr>
          <p:nvPr/>
        </p:nvSpPr>
        <p:spPr>
          <a:xfrm>
            <a:off x="8524875" y="3581400"/>
            <a:ext cx="19050" cy="666750"/>
          </a:xfrm>
          <a:prstGeom prst="rect">
            <a:avLst/>
          </a:prstGeom>
          <a:solidFill>
            <a:srgbClr val="5AD2E6"/>
          </a:solidFill>
          <a:ln w="0">
            <a:solidFill>
              <a:srgbClr val="5AD2E6"/>
            </a:solidFill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77C518C-CFE0-43D7-83D0-D285F6CA0579}"/>
              </a:ext>
            </a:extLst>
          </p:cNvPr>
          <p:cNvSpPr>
            <a:spLocks noGrp="1"/>
          </p:cNvSpPr>
          <p:nvPr/>
        </p:nvSpPr>
        <p:spPr>
          <a:xfrm>
            <a:off x="8420100" y="4191000"/>
            <a:ext cx="228600" cy="228600"/>
          </a:xfrm>
          <a:prstGeom prst="ellipse">
            <a:avLst/>
          </a:prstGeom>
          <a:solidFill>
            <a:srgbClr val="5AD2E6"/>
          </a:solidFill>
          <a:ln w="0">
            <a:solidFill>
              <a:srgbClr val="5AD2E6"/>
            </a:solidFill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BC3DD55-B735-4564-BD49-DBA489585716}"/>
              </a:ext>
            </a:extLst>
          </p:cNvPr>
          <p:cNvSpPr>
            <a:spLocks noGrp="1"/>
          </p:cNvSpPr>
          <p:nvPr/>
        </p:nvSpPr>
        <p:spPr>
          <a:xfrm>
            <a:off x="7934325" y="4467225"/>
            <a:ext cx="1200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timeout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05A7D-2E8E-4F36-9092-342B25266C75}"/>
              </a:ext>
            </a:extLst>
          </p:cNvPr>
          <p:cNvSpPr>
            <a:spLocks noGrp="1"/>
          </p:cNvSpPr>
          <p:nvPr/>
        </p:nvSpPr>
        <p:spPr>
          <a:xfrm>
            <a:off x="1352550" y="5143500"/>
            <a:ext cx="94869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7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Without traces, teams see a bad answer. With monitoring, they see the failing stage and the corrective action.</a:t>
            </a:r>
          </a:p>
        </p:txBody>
      </p:sp>
    </p:spTree>
    <p:extLst>
      <p:ext uri="{BB962C8B-B14F-4D97-AF65-F5344CB8AC3E}">
        <p14:creationId xmlns:p14="http://schemas.microsoft.com/office/powerpoint/2010/main" val="2082653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CDDF42A-42BC-404A-AF4F-C4F102B845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F7F3EA"/>
            </a:solidFill>
          </a:ln>
        </p:spPr>
      </p:sp>
      <p:sp>
        <p:nvSpPr>
          <p:cNvPr id="2" name="kicker-4-marker">
            <a:extLst>
              <a:ext uri="{FF2B5EF4-FFF2-40B4-BE49-F238E27FC236}">
                <a16:creationId xmlns:a16="http://schemas.microsoft.com/office/drawing/2014/main" id="{49C76DE9-AE74-4396-A317-E05A1A6F53F5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" name="kicker-4-label">
            <a:extLst>
              <a:ext uri="{FF2B5EF4-FFF2-40B4-BE49-F238E27FC236}">
                <a16:creationId xmlns:a16="http://schemas.microsoft.com/office/drawing/2014/main" id="{4980713F-18E0-4410-92B5-84CA9318A0ED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t>OBSERVABILITY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6FC382-0607-448E-AD90-625A84946807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075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Microsoft recommends four signals. Our project already captures all four.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2B1B8F-15EB-4AEF-8F59-9520CF4DEABC}"/>
              </a:ext>
            </a:extLst>
          </p:cNvPr>
          <p:cNvSpPr>
            <a:spLocks noGrp="1"/>
          </p:cNvSpPr>
          <p:nvPr/>
        </p:nvSpPr>
        <p:spPr>
          <a:xfrm>
            <a:off x="590550" y="1847850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68717D"/>
                </a:solidFill>
                <a:latin typeface="Arial"/>
                <a:ea typeface="Arial"/>
                <a:cs typeface="Arial"/>
              </a:defRPr>
            </a:pPr>
            <a:r>
              <a:t>MICROSOFT SIGNAL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36D6B-FDA3-4B58-B6ED-A115792A008F}"/>
              </a:ext>
            </a:extLst>
          </p:cNvPr>
          <p:cNvSpPr>
            <a:spLocks noGrp="1"/>
          </p:cNvSpPr>
          <p:nvPr/>
        </p:nvSpPr>
        <p:spPr>
          <a:xfrm>
            <a:off x="2905125" y="1847850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68717D"/>
                </a:solidFill>
                <a:latin typeface="Arial"/>
                <a:ea typeface="Arial"/>
                <a:cs typeface="Arial"/>
              </a:defRPr>
            </a:pPr>
            <a:r>
              <a:t>OUR 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FF09D8-D542-440A-8CFC-6206AA349F72}"/>
              </a:ext>
            </a:extLst>
          </p:cNvPr>
          <p:cNvSpPr>
            <a:spLocks noGrp="1"/>
          </p:cNvSpPr>
          <p:nvPr/>
        </p:nvSpPr>
        <p:spPr>
          <a:xfrm>
            <a:off x="5286375" y="1847850"/>
            <a:ext cx="1905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68717D"/>
                </a:solidFill>
                <a:latin typeface="Arial"/>
                <a:ea typeface="Arial"/>
                <a:cs typeface="Arial"/>
              </a:defRPr>
            </a:pPr>
            <a:r>
              <a:t>IMPLEMENTATION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447690-4AC0-4250-8A7D-719214575F4C}"/>
              </a:ext>
            </a:extLst>
          </p:cNvPr>
          <p:cNvSpPr>
            <a:spLocks noGrp="1"/>
          </p:cNvSpPr>
          <p:nvPr/>
        </p:nvSpPr>
        <p:spPr>
          <a:xfrm>
            <a:off x="7524750" y="1847850"/>
            <a:ext cx="3905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68717D"/>
                </a:solidFill>
                <a:latin typeface="Arial"/>
                <a:ea typeface="Arial"/>
                <a:cs typeface="Arial"/>
              </a:defRPr>
            </a:pPr>
            <a:r>
              <a:t>DECISION ENABLED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E6ADF84-EE14-4951-8AE9-38ACF9731444}"/>
              </a:ext>
            </a:extLst>
          </p:cNvPr>
          <p:cNvSpPr>
            <a:spLocks noGrp="1"/>
          </p:cNvSpPr>
          <p:nvPr/>
        </p:nvSpPr>
        <p:spPr>
          <a:xfrm>
            <a:off x="495300" y="2190750"/>
            <a:ext cx="112014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6D8DC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76E879-0802-42A8-9F3C-10B24CAD0600}"/>
              </a:ext>
            </a:extLst>
          </p:cNvPr>
          <p:cNvSpPr>
            <a:spLocks noGrp="1"/>
          </p:cNvSpPr>
          <p:nvPr/>
        </p:nvSpPr>
        <p:spPr>
          <a:xfrm>
            <a:off x="495300" y="2190750"/>
            <a:ext cx="95250" cy="723900"/>
          </a:xfrm>
          <a:prstGeom prst="rect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D10891-3641-45C7-B1C5-62276BF6676E}"/>
              </a:ext>
            </a:extLst>
          </p:cNvPr>
          <p:cNvSpPr>
            <a:spLocks noGrp="1"/>
          </p:cNvSpPr>
          <p:nvPr/>
        </p:nvSpPr>
        <p:spPr>
          <a:xfrm>
            <a:off x="742950" y="2314575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TOKEN CONSUMPTION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192BBE-0C59-4CA3-A2F5-758B881CBEAA}"/>
              </a:ext>
            </a:extLst>
          </p:cNvPr>
          <p:cNvSpPr>
            <a:spLocks noGrp="1"/>
          </p:cNvSpPr>
          <p:nvPr/>
        </p:nvSpPr>
        <p:spPr>
          <a:xfrm>
            <a:off x="2905125" y="2314575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314,615 tokens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519900-83C6-4D02-9241-365C238405A2}"/>
              </a:ext>
            </a:extLst>
          </p:cNvPr>
          <p:cNvSpPr>
            <a:spLocks noGrp="1"/>
          </p:cNvSpPr>
          <p:nvPr/>
        </p:nvSpPr>
        <p:spPr>
          <a:xfrm>
            <a:off x="5286375" y="2314575"/>
            <a:ext cx="19526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Token &amp; Cost tab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E8ED7D-C2F2-41C6-B041-1E5A8B820BA2}"/>
              </a:ext>
            </a:extLst>
          </p:cNvPr>
          <p:cNvSpPr>
            <a:spLocks noGrp="1"/>
          </p:cNvSpPr>
          <p:nvPr/>
        </p:nvSpPr>
        <p:spPr>
          <a:xfrm>
            <a:off x="7524750" y="2266950"/>
            <a:ext cx="38576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Input/output totals, request cost, version comparison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CF5A92C-2A54-41D3-BFAA-BEBADCAAB46A}"/>
              </a:ext>
            </a:extLst>
          </p:cNvPr>
          <p:cNvSpPr>
            <a:spLocks noGrp="1"/>
          </p:cNvSpPr>
          <p:nvPr/>
        </p:nvSpPr>
        <p:spPr>
          <a:xfrm>
            <a:off x="495300" y="3095625"/>
            <a:ext cx="11201400" cy="723900"/>
          </a:xfrm>
          <a:prstGeom prst="roundRect">
            <a:avLst>
              <a:gd name="adj" fmla="val 10526"/>
            </a:avLst>
          </a:prstGeom>
          <a:solidFill>
            <a:srgbClr val="F0ECE3"/>
          </a:solidFill>
          <a:ln w="9525">
            <a:solidFill>
              <a:srgbClr val="D6D8DC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394CB9-88D5-4471-B857-15C3A5A454D4}"/>
              </a:ext>
            </a:extLst>
          </p:cNvPr>
          <p:cNvSpPr>
            <a:spLocks noGrp="1"/>
          </p:cNvSpPr>
          <p:nvPr/>
        </p:nvSpPr>
        <p:spPr>
          <a:xfrm>
            <a:off x="495300" y="3095625"/>
            <a:ext cx="95250" cy="723900"/>
          </a:xfrm>
          <a:prstGeom prst="rect">
            <a:avLst/>
          </a:prstGeom>
          <a:solidFill>
            <a:srgbClr val="5AD2E6"/>
          </a:solidFill>
          <a:ln w="0">
            <a:solidFill>
              <a:srgbClr val="5AD2E6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09A7FA-D5BE-46EF-B6F4-DD1F1CA4D8C1}"/>
              </a:ext>
            </a:extLst>
          </p:cNvPr>
          <p:cNvSpPr>
            <a:spLocks noGrp="1"/>
          </p:cNvSpPr>
          <p:nvPr/>
        </p:nvSpPr>
        <p:spPr>
          <a:xfrm>
            <a:off x="742950" y="3219450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LATENCY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D8450F-FEB7-4BC6-BE47-14F2361BF28F}"/>
              </a:ext>
            </a:extLst>
          </p:cNvPr>
          <p:cNvSpPr>
            <a:spLocks noGrp="1"/>
          </p:cNvSpPr>
          <p:nvPr/>
        </p:nvSpPr>
        <p:spPr>
          <a:xfrm>
            <a:off x="2905125" y="3219450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2.23s avg | 4.24s P95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F4F4BD-230F-49E8-BF84-2B1CB940E679}"/>
              </a:ext>
            </a:extLst>
          </p:cNvPr>
          <p:cNvSpPr>
            <a:spLocks noGrp="1"/>
          </p:cNvSpPr>
          <p:nvPr/>
        </p:nvSpPr>
        <p:spPr>
          <a:xfrm>
            <a:off x="5286375" y="3219450"/>
            <a:ext cx="19526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Latency tab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13EC01-6E10-4D3B-9ABA-3CCA977D7F99}"/>
              </a:ext>
            </a:extLst>
          </p:cNvPr>
          <p:cNvSpPr>
            <a:spLocks noGrp="1"/>
          </p:cNvSpPr>
          <p:nvPr/>
        </p:nvSpPr>
        <p:spPr>
          <a:xfrm>
            <a:off x="7524750" y="3171825"/>
            <a:ext cx="38576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Retrieval, LLM, end-to-end, slow-query alerts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B4E22D6-12FC-4DF4-9F22-0EE0501A3604}"/>
              </a:ext>
            </a:extLst>
          </p:cNvPr>
          <p:cNvSpPr>
            <a:spLocks noGrp="1"/>
          </p:cNvSpPr>
          <p:nvPr/>
        </p:nvSpPr>
        <p:spPr>
          <a:xfrm>
            <a:off x="495300" y="4000500"/>
            <a:ext cx="112014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6D8DC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CBC212-C62C-4EA3-97CF-253E18EEFE85}"/>
              </a:ext>
            </a:extLst>
          </p:cNvPr>
          <p:cNvSpPr>
            <a:spLocks noGrp="1"/>
          </p:cNvSpPr>
          <p:nvPr/>
        </p:nvSpPr>
        <p:spPr>
          <a:xfrm>
            <a:off x="495300" y="4000500"/>
            <a:ext cx="95250" cy="723900"/>
          </a:xfrm>
          <a:prstGeom prst="rect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90B415-8995-46D9-BEAA-EC39C3AFFB97}"/>
              </a:ext>
            </a:extLst>
          </p:cNvPr>
          <p:cNvSpPr>
            <a:spLocks noGrp="1"/>
          </p:cNvSpPr>
          <p:nvPr/>
        </p:nvSpPr>
        <p:spPr>
          <a:xfrm>
            <a:off x="742950" y="4124325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EXCEPTIONS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ECF906-E6BC-41E1-88CB-3F502A1490AB}"/>
              </a:ext>
            </a:extLst>
          </p:cNvPr>
          <p:cNvSpPr>
            <a:spLocks noGrp="1"/>
          </p:cNvSpPr>
          <p:nvPr/>
        </p:nvSpPr>
        <p:spPr>
          <a:xfrm>
            <a:off x="2905125" y="4124325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0 errors | 27 safety flags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C5F1A1-BFFC-4BA5-9174-CDA2134AE331}"/>
              </a:ext>
            </a:extLst>
          </p:cNvPr>
          <p:cNvSpPr>
            <a:spLocks noGrp="1"/>
          </p:cNvSpPr>
          <p:nvPr/>
        </p:nvSpPr>
        <p:spPr>
          <a:xfrm>
            <a:off x="5286375" y="4124325"/>
            <a:ext cx="19526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Overview + Logs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C97F19-7F50-4BFF-AD4D-972F7650AEF4}"/>
              </a:ext>
            </a:extLst>
          </p:cNvPr>
          <p:cNvSpPr>
            <a:spLocks noGrp="1"/>
          </p:cNvSpPr>
          <p:nvPr/>
        </p:nvSpPr>
        <p:spPr>
          <a:xfrm>
            <a:off x="7524750" y="4076700"/>
            <a:ext cx="38576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Error codes, safety flags, request-level evidence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D657EDE-8449-440C-B8AA-1C5BEF0C9073}"/>
              </a:ext>
            </a:extLst>
          </p:cNvPr>
          <p:cNvSpPr>
            <a:spLocks noGrp="1"/>
          </p:cNvSpPr>
          <p:nvPr/>
        </p:nvSpPr>
        <p:spPr>
          <a:xfrm>
            <a:off x="495300" y="4905375"/>
            <a:ext cx="11201400" cy="723900"/>
          </a:xfrm>
          <a:prstGeom prst="roundRect">
            <a:avLst>
              <a:gd name="adj" fmla="val 10526"/>
            </a:avLst>
          </a:prstGeom>
          <a:solidFill>
            <a:srgbClr val="F0ECE3"/>
          </a:solidFill>
          <a:ln w="9525">
            <a:solidFill>
              <a:srgbClr val="D6D8DC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B6BF3F-DB28-443B-B01F-29B4C8F8DAF0}"/>
              </a:ext>
            </a:extLst>
          </p:cNvPr>
          <p:cNvSpPr>
            <a:spLocks noGrp="1"/>
          </p:cNvSpPr>
          <p:nvPr/>
        </p:nvSpPr>
        <p:spPr>
          <a:xfrm>
            <a:off x="495300" y="4905375"/>
            <a:ext cx="95250" cy="723900"/>
          </a:xfrm>
          <a:prstGeom prst="rect">
            <a:avLst/>
          </a:prstGeom>
          <a:solidFill>
            <a:srgbClr val="9B8AFB"/>
          </a:solidFill>
          <a:ln w="0">
            <a:solidFill>
              <a:srgbClr val="9B8AFB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13A5FE9-02CA-4919-9319-922023E8C9C8}"/>
              </a:ext>
            </a:extLst>
          </p:cNvPr>
          <p:cNvSpPr>
            <a:spLocks noGrp="1"/>
          </p:cNvSpPr>
          <p:nvPr/>
        </p:nvSpPr>
        <p:spPr>
          <a:xfrm>
            <a:off x="742950" y="5029200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RESPONSE QUALITY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6EA1D8-11DB-46D4-8525-CADA55F5E0FF}"/>
              </a:ext>
            </a:extLst>
          </p:cNvPr>
          <p:cNvSpPr>
            <a:spLocks noGrp="1"/>
          </p:cNvSpPr>
          <p:nvPr/>
        </p:nvSpPr>
        <p:spPr>
          <a:xfrm>
            <a:off x="2905125" y="5029200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8.9% hallucination rate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309E19-23B6-4391-8ADA-020CC13704D8}"/>
              </a:ext>
            </a:extLst>
          </p:cNvPr>
          <p:cNvSpPr>
            <a:spLocks noGrp="1"/>
          </p:cNvSpPr>
          <p:nvPr/>
        </p:nvSpPr>
        <p:spPr>
          <a:xfrm>
            <a:off x="5286375" y="5029200"/>
            <a:ext cx="19526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RAG Evaluation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8829BD-DA8C-4BD8-8EF8-F4C92AFAC359}"/>
              </a:ext>
            </a:extLst>
          </p:cNvPr>
          <p:cNvSpPr>
            <a:spLocks noGrp="1"/>
          </p:cNvSpPr>
          <p:nvPr/>
        </p:nvSpPr>
        <p:spPr>
          <a:xfrm>
            <a:off x="7524750" y="4981575"/>
            <a:ext cx="38576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Relevance, faithfulness, groundedness, edge cases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DCB16D5-F83E-4AC9-95D1-692844A1EB94}"/>
              </a:ext>
            </a:extLst>
          </p:cNvPr>
          <p:cNvSpPr>
            <a:spLocks noGrp="1"/>
          </p:cNvSpPr>
          <p:nvPr/>
        </p:nvSpPr>
        <p:spPr>
          <a:xfrm>
            <a:off x="495300" y="6477000"/>
            <a:ext cx="1000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675" b="0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S2 Microsoft Learn, updated Feb 27, 2026 | P1-P2 local reports, Jun 10, 2026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29C7B4A-6AD3-49C7-ADA6-500FBEF9CAB6}"/>
              </a:ext>
            </a:extLst>
          </p:cNvPr>
          <p:cNvSpPr>
            <a:spLocks noGrp="1"/>
          </p:cNvSpPr>
          <p:nvPr/>
        </p:nvSpPr>
        <p:spPr>
          <a:xfrm>
            <a:off x="11277600" y="6457950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r">
              <a:defRPr sz="825" b="1">
                <a:solidFill>
                  <a:srgbClr val="777F8C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9510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0F02E86-4E1B-4912-B913-633CDDD27A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" name="kicker-5-marker">
            <a:extLst>
              <a:ext uri="{FF2B5EF4-FFF2-40B4-BE49-F238E27FC236}">
                <a16:creationId xmlns:a16="http://schemas.microsoft.com/office/drawing/2014/main" id="{102CAD37-CB5B-4090-817A-3AEB40FA0430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" name="kicker-5-label">
            <a:extLst>
              <a:ext uri="{FF2B5EF4-FFF2-40B4-BE49-F238E27FC236}">
                <a16:creationId xmlns:a16="http://schemas.microsoft.com/office/drawing/2014/main" id="{442C765C-2EF9-4035-BE8A-203AD522EF23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QUALITY INSIGHT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91F511-74FD-4C5F-B47F-3E55D0141D32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15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A 100% technical success rate still concealed material quality risk.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66CACFA-AB49-48A4-97DE-57C173A9C252}"/>
              </a:ext>
            </a:extLst>
          </p:cNvPr>
          <p:cNvSpPr>
            <a:spLocks noGrp="1"/>
          </p:cNvSpPr>
          <p:nvPr/>
        </p:nvSpPr>
        <p:spPr>
          <a:xfrm>
            <a:off x="495300" y="2000250"/>
            <a:ext cx="3190875" cy="3333750"/>
          </a:xfrm>
          <a:prstGeom prst="roundRect">
            <a:avLst>
              <a:gd name="adj" fmla="val 2388"/>
            </a:avLst>
          </a:prstGeom>
          <a:solidFill>
            <a:srgbClr val="19243A"/>
          </a:solidFill>
          <a:ln w="19050">
            <a:solidFill>
              <a:srgbClr val="3B4861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C9979E-9F42-4F19-974D-4B218AA425FA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WHAT A BASIC MONITOR SAYS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AB6ABE-CB15-4D11-950C-E315B12BBECD}"/>
              </a:ext>
            </a:extLst>
          </p:cNvPr>
          <p:cNvSpPr>
            <a:spLocks noGrp="1"/>
          </p:cNvSpPr>
          <p:nvPr/>
        </p:nvSpPr>
        <p:spPr>
          <a:xfrm>
            <a:off x="742950" y="2628900"/>
            <a:ext cx="2476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C8F56A"/>
                </a:solidFill>
                <a:latin typeface="Arial Black"/>
                <a:ea typeface="Arial Black"/>
                <a:cs typeface="Arial Black"/>
              </a:defRPr>
            </a:pPr>
            <a:r>
              <a:t>100%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20B5C3-99B2-48B0-A041-CEA567CD7CD5}"/>
              </a:ext>
            </a:extLst>
          </p:cNvPr>
          <p:cNvSpPr>
            <a:spLocks noGrp="1"/>
          </p:cNvSpPr>
          <p:nvPr/>
        </p:nvSpPr>
        <p:spPr>
          <a:xfrm>
            <a:off x="742950" y="3162300"/>
            <a:ext cx="247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requests completed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44F621-9D8C-468D-87B0-F9E4DB38A603}"/>
              </a:ext>
            </a:extLst>
          </p:cNvPr>
          <p:cNvSpPr>
            <a:spLocks noGrp="1"/>
          </p:cNvSpPr>
          <p:nvPr/>
        </p:nvSpPr>
        <p:spPr>
          <a:xfrm>
            <a:off x="742950" y="3714750"/>
            <a:ext cx="2476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7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No API errors.</a:t>
            </a:r>
          </a:p>
          <a:p>
            <a:pPr algn="l">
              <a:defRPr sz="17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Everything looks healthy.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D16F7A-56B4-44C4-B944-07A016751ED7}"/>
              </a:ext>
            </a:extLst>
          </p:cNvPr>
          <p:cNvSpPr>
            <a:spLocks noGrp="1"/>
          </p:cNvSpPr>
          <p:nvPr/>
        </p:nvSpPr>
        <p:spPr>
          <a:xfrm>
            <a:off x="742950" y="47625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STATUS: GREEN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246697-68AD-4EA2-8142-A5463DD7156C}"/>
              </a:ext>
            </a:extLst>
          </p:cNvPr>
          <p:cNvSpPr>
            <a:spLocks noGrp="1"/>
          </p:cNvSpPr>
          <p:nvPr/>
        </p:nvSpPr>
        <p:spPr>
          <a:xfrm>
            <a:off x="4029075" y="2000250"/>
            <a:ext cx="7667625" cy="3333750"/>
          </a:xfrm>
          <a:prstGeom prst="roundRect">
            <a:avLst>
              <a:gd name="adj" fmla="val 2286"/>
            </a:avLst>
          </a:prstGeom>
          <a:solidFill>
            <a:srgbClr val="F7F3EA"/>
          </a:solidFill>
          <a:ln w="0">
            <a:solidFill>
              <a:srgbClr val="F7F3EA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F50859-1793-436E-A758-225BB47C4035}"/>
              </a:ext>
            </a:extLst>
          </p:cNvPr>
          <p:cNvSpPr>
            <a:spLocks noGrp="1"/>
          </p:cNvSpPr>
          <p:nvPr/>
        </p:nvSpPr>
        <p:spPr>
          <a:xfrm>
            <a:off x="4314825" y="22288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WHAT LLM MONITORING REVEALS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02A0B8-C4E4-4764-9FB2-B83193114A64}"/>
              </a:ext>
            </a:extLst>
          </p:cNvPr>
          <p:cNvSpPr>
            <a:spLocks noGrp="1"/>
          </p:cNvSpPr>
          <p:nvPr/>
        </p:nvSpPr>
        <p:spPr>
          <a:xfrm>
            <a:off x="4381500" y="2647950"/>
            <a:ext cx="1952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FF675C"/>
                </a:solidFill>
                <a:latin typeface="Arial Black"/>
                <a:ea typeface="Arial Black"/>
                <a:cs typeface="Arial Black"/>
              </a:defRPr>
            </a:pPr>
            <a:r>
              <a:t>19.6%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14AC38-BDA3-482F-86D4-383BF3A8DA56}"/>
              </a:ext>
            </a:extLst>
          </p:cNvPr>
          <p:cNvSpPr>
            <a:spLocks noGrp="1"/>
          </p:cNvSpPr>
          <p:nvPr/>
        </p:nvSpPr>
        <p:spPr>
          <a:xfrm>
            <a:off x="4381500" y="3181350"/>
            <a:ext cx="1952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626B78"/>
                </a:solidFill>
                <a:latin typeface="Arial"/>
                <a:ea typeface="Arial"/>
                <a:cs typeface="Arial"/>
              </a:defRPr>
            </a:pPr>
            <a:r>
              <a:t>low-quality responses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391F64-F968-4EA6-A865-F7D76D7F6554}"/>
              </a:ext>
            </a:extLst>
          </p:cNvPr>
          <p:cNvSpPr>
            <a:spLocks noGrp="1"/>
          </p:cNvSpPr>
          <p:nvPr/>
        </p:nvSpPr>
        <p:spPr>
          <a:xfrm>
            <a:off x="6715125" y="2647950"/>
            <a:ext cx="1952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9B8AFB"/>
                </a:solidFill>
                <a:latin typeface="Arial Black"/>
                <a:ea typeface="Arial Black"/>
                <a:cs typeface="Arial Black"/>
              </a:defRPr>
            </a:pPr>
            <a:r>
              <a:t>8.9%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94013E-EA42-40B6-966A-8AD4C86DFA20}"/>
              </a:ext>
            </a:extLst>
          </p:cNvPr>
          <p:cNvSpPr>
            <a:spLocks noGrp="1"/>
          </p:cNvSpPr>
          <p:nvPr/>
        </p:nvSpPr>
        <p:spPr>
          <a:xfrm>
            <a:off x="6715125" y="3181350"/>
            <a:ext cx="1952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626B78"/>
                </a:solidFill>
                <a:latin typeface="Arial"/>
                <a:ea typeface="Arial"/>
                <a:cs typeface="Arial"/>
              </a:defRPr>
            </a:pPr>
            <a:r>
              <a:t>hallucination rate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06DA24-CD4C-47EF-A666-33B5F207D31C}"/>
              </a:ext>
            </a:extLst>
          </p:cNvPr>
          <p:cNvSpPr>
            <a:spLocks noGrp="1"/>
          </p:cNvSpPr>
          <p:nvPr/>
        </p:nvSpPr>
        <p:spPr>
          <a:xfrm>
            <a:off x="9048750" y="2647950"/>
            <a:ext cx="1952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5AD2E6"/>
                </a:solidFill>
                <a:latin typeface="Arial Black"/>
                <a:ea typeface="Arial Black"/>
                <a:cs typeface="Arial Black"/>
              </a:defRPr>
            </a:pPr>
            <a:r>
              <a:t>4.57%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A8F1F7-95F3-4A64-A3D9-77E20023C3C6}"/>
              </a:ext>
            </a:extLst>
          </p:cNvPr>
          <p:cNvSpPr>
            <a:spLocks noGrp="1"/>
          </p:cNvSpPr>
          <p:nvPr/>
        </p:nvSpPr>
        <p:spPr>
          <a:xfrm>
            <a:off x="9048750" y="3181350"/>
            <a:ext cx="1952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626B78"/>
                </a:solidFill>
                <a:latin typeface="Arial"/>
                <a:ea typeface="Arial"/>
                <a:cs typeface="Arial"/>
              </a:defRPr>
            </a:pPr>
            <a:r>
              <a:t>safety-flag rate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30E8E6-0604-4BC1-8A55-E066A4093DE3}"/>
              </a:ext>
            </a:extLst>
          </p:cNvPr>
          <p:cNvSpPr>
            <a:spLocks noGrp="1"/>
          </p:cNvSpPr>
          <p:nvPr/>
        </p:nvSpPr>
        <p:spPr>
          <a:xfrm>
            <a:off x="4333875" y="3781425"/>
            <a:ext cx="7000875" cy="19050"/>
          </a:xfrm>
          <a:prstGeom prst="rect">
            <a:avLst/>
          </a:prstGeom>
          <a:solidFill>
            <a:srgbClr val="D3D5D9"/>
          </a:solidFill>
          <a:ln w="0">
            <a:solidFill>
              <a:srgbClr val="D3D5D9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3A2D19-4702-4E67-994D-5F6147423497}"/>
              </a:ext>
            </a:extLst>
          </p:cNvPr>
          <p:cNvSpPr>
            <a:spLocks noGrp="1"/>
          </p:cNvSpPr>
          <p:nvPr/>
        </p:nvSpPr>
        <p:spPr>
          <a:xfrm>
            <a:off x="4381500" y="4000500"/>
            <a:ext cx="6858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42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Worst cases included prompt injection attempts, system-prompt extraction, mixed-language inputs, and an ordinary transformer question with zero faithfulness.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7DD431-1D6F-48AA-BCF9-F0C7BB1D7589}"/>
              </a:ext>
            </a:extLst>
          </p:cNvPr>
          <p:cNvSpPr>
            <a:spLocks noGrp="1"/>
          </p:cNvSpPr>
          <p:nvPr/>
        </p:nvSpPr>
        <p:spPr>
          <a:xfrm>
            <a:off x="4381500" y="4876800"/>
            <a:ext cx="6858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>
                <a:solidFill>
                  <a:srgbClr val="446A00"/>
                </a:solidFill>
                <a:latin typeface="Arial"/>
                <a:ea typeface="Arial"/>
                <a:cs typeface="Arial"/>
              </a:defRPr>
            </a:pPr>
            <a:r>
              <a:t>SOLUTION: evaluate outputs, segment failures, and convert edge cases into regression tests.</a:t>
            </a:r>
          </a:p>
        </p:txBody>
      </p:sp>
    </p:spTree>
    <p:extLst>
      <p:ext uri="{BB962C8B-B14F-4D97-AF65-F5344CB8AC3E}">
        <p14:creationId xmlns:p14="http://schemas.microsoft.com/office/powerpoint/2010/main" val="1269102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A86BC37-C28A-4213-92E5-D1079192DE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F7F3EA"/>
            </a:solidFill>
          </a:ln>
        </p:spPr>
      </p:sp>
      <p:sp>
        <p:nvSpPr>
          <p:cNvPr id="2" name="kicker-6-marker">
            <a:extLst>
              <a:ext uri="{FF2B5EF4-FFF2-40B4-BE49-F238E27FC236}">
                <a16:creationId xmlns:a16="http://schemas.microsoft.com/office/drawing/2014/main" id="{1807CAF2-99F1-4525-96EB-EA19CD956770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" name="kicker-6-label">
            <a:extLst>
              <a:ext uri="{FF2B5EF4-FFF2-40B4-BE49-F238E27FC236}">
                <a16:creationId xmlns:a16="http://schemas.microsoft.com/office/drawing/2014/main" id="{32144E9A-4109-4BA5-BB3E-956291A5114D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t>COST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25D841-1E10-48F2-8B80-946351FD7079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075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Cost visibility answers “what happened”; governance prevents it happening again.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C531B9A-B01C-4B40-957F-62E2C1940536}"/>
              </a:ext>
            </a:extLst>
          </p:cNvPr>
          <p:cNvSpPr>
            <a:spLocks noGrp="1"/>
          </p:cNvSpPr>
          <p:nvPr/>
        </p:nvSpPr>
        <p:spPr>
          <a:xfrm>
            <a:off x="495300" y="1943100"/>
            <a:ext cx="4048125" cy="3333750"/>
          </a:xfrm>
          <a:prstGeom prst="roundRect">
            <a:avLst>
              <a:gd name="adj" fmla="val 2286"/>
            </a:avLst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EF796B-3701-4732-8181-6CEDAB39AB7F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905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REPORTED ISSUE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D5688E-0C2E-4BFA-A0A9-5D65619C7CE9}"/>
              </a:ext>
            </a:extLst>
          </p:cNvPr>
          <p:cNvSpPr>
            <a:spLocks noGrp="1"/>
          </p:cNvSpPr>
          <p:nvPr/>
        </p:nvSpPr>
        <p:spPr>
          <a:xfrm>
            <a:off x="781050" y="2552700"/>
            <a:ext cx="2857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4350" b="1">
                <a:solidFill>
                  <a:srgbClr val="FF675C"/>
                </a:solidFill>
                <a:latin typeface="Arial Black"/>
                <a:ea typeface="Arial Black"/>
                <a:cs typeface="Arial Black"/>
              </a:defRPr>
            </a:pPr>
            <a:r>
              <a:t>$500M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67F5BE-C373-4657-97F8-17F6100B85D4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3143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7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claimed one-month Claude spend</a:t>
            </a:r>
          </a:p>
          <a:p>
            <a:pPr algn="l">
              <a:defRPr sz="157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after employee licenses lacked limits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B3949F-A71C-438D-B0E0-F7AD49681785}"/>
              </a:ext>
            </a:extLst>
          </p:cNvPr>
          <p:cNvSpPr>
            <a:spLocks noGrp="1"/>
          </p:cNvSpPr>
          <p:nvPr/>
        </p:nvSpPr>
        <p:spPr>
          <a:xfrm>
            <a:off x="781050" y="4429125"/>
            <a:ext cx="3143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Important: anonymous consultant claim; company identity and figure are unverified.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BB43AC-609B-42FD-B187-18F54ECF066B}"/>
              </a:ext>
            </a:extLst>
          </p:cNvPr>
          <p:cNvSpPr>
            <a:spLocks noGrp="1"/>
          </p:cNvSpPr>
          <p:nvPr/>
        </p:nvSpPr>
        <p:spPr>
          <a:xfrm>
            <a:off x="5095875" y="1952625"/>
            <a:ext cx="2667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68717D"/>
                </a:solidFill>
                <a:latin typeface="Arial"/>
                <a:ea typeface="Arial"/>
                <a:cs typeface="Arial"/>
              </a:defRPr>
            </a:pPr>
            <a:r>
              <a:t>OUR PROJECT BASELINE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C509D8-68C2-4674-9D81-5F495D60E22D}"/>
              </a:ext>
            </a:extLst>
          </p:cNvPr>
          <p:cNvSpPr>
            <a:spLocks noGrp="1"/>
          </p:cNvSpPr>
          <p:nvPr/>
        </p:nvSpPr>
        <p:spPr>
          <a:xfrm>
            <a:off x="5095875" y="2305050"/>
            <a:ext cx="2095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$2.1264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2BE672-3EE8-456F-BAD4-0590E4A9E3F2}"/>
              </a:ext>
            </a:extLst>
          </p:cNvPr>
          <p:cNvSpPr>
            <a:spLocks noGrp="1"/>
          </p:cNvSpPr>
          <p:nvPr/>
        </p:nvSpPr>
        <p:spPr>
          <a:xfrm>
            <a:off x="5095875" y="283845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626B78"/>
                </a:solidFill>
                <a:latin typeface="Arial"/>
                <a:ea typeface="Arial"/>
                <a:cs typeface="Arial"/>
              </a:defRPr>
            </a:pPr>
            <a:r>
              <a:t>estimated total cost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A8237F-A41A-4011-95D6-60A28D612BEF}"/>
              </a:ext>
            </a:extLst>
          </p:cNvPr>
          <p:cNvSpPr>
            <a:spLocks noGrp="1"/>
          </p:cNvSpPr>
          <p:nvPr/>
        </p:nvSpPr>
        <p:spPr>
          <a:xfrm>
            <a:off x="7524750" y="2305050"/>
            <a:ext cx="2095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$0.0036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FF8CE2-9A58-4EEA-9774-2B632E0A7ED8}"/>
              </a:ext>
            </a:extLst>
          </p:cNvPr>
          <p:cNvSpPr>
            <a:spLocks noGrp="1"/>
          </p:cNvSpPr>
          <p:nvPr/>
        </p:nvSpPr>
        <p:spPr>
          <a:xfrm>
            <a:off x="7524750" y="283845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626B78"/>
                </a:solidFill>
                <a:latin typeface="Arial"/>
                <a:ea typeface="Arial"/>
                <a:cs typeface="Arial"/>
              </a:defRPr>
            </a:pPr>
            <a:r>
              <a:t>average per request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114D45-D057-4DAD-BCF9-E516DF26E95D}"/>
              </a:ext>
            </a:extLst>
          </p:cNvPr>
          <p:cNvSpPr>
            <a:spLocks noGrp="1"/>
          </p:cNvSpPr>
          <p:nvPr/>
        </p:nvSpPr>
        <p:spPr>
          <a:xfrm>
            <a:off x="9810750" y="2305050"/>
            <a:ext cx="1714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4D7600"/>
                </a:solidFill>
                <a:latin typeface="Arial Black"/>
                <a:ea typeface="Arial Black"/>
                <a:cs typeface="Arial Black"/>
              </a:defRPr>
            </a:pPr>
            <a:r>
              <a:t>1.1%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5EA1A6-7E11-4A4E-9CA8-E6250ED80E2D}"/>
              </a:ext>
            </a:extLst>
          </p:cNvPr>
          <p:cNvSpPr>
            <a:spLocks noGrp="1"/>
          </p:cNvSpPr>
          <p:nvPr/>
        </p:nvSpPr>
        <p:spPr>
          <a:xfrm>
            <a:off x="9810750" y="2838450"/>
            <a:ext cx="171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626B78"/>
                </a:solidFill>
                <a:latin typeface="Arial"/>
                <a:ea typeface="Arial"/>
                <a:cs typeface="Arial"/>
              </a:defRPr>
            </a:pPr>
            <a:r>
              <a:t>v2 cheaper per request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E2150F-0DF6-4001-8F3A-D542DFDABD49}"/>
              </a:ext>
            </a:extLst>
          </p:cNvPr>
          <p:cNvSpPr>
            <a:spLocks noGrp="1"/>
          </p:cNvSpPr>
          <p:nvPr/>
        </p:nvSpPr>
        <p:spPr>
          <a:xfrm>
            <a:off x="5095875" y="3429000"/>
            <a:ext cx="6143625" cy="19050"/>
          </a:xfrm>
          <a:prstGeom prst="rect">
            <a:avLst/>
          </a:prstGeom>
          <a:solidFill>
            <a:srgbClr val="D5D7DB"/>
          </a:solidFill>
          <a:ln w="0">
            <a:solidFill>
              <a:srgbClr val="D5D7DB"/>
            </a:solidFill>
          </a:ln>
        </p:spPr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034E3C8-35B7-4751-8B2C-9DDFB48A4B1E}"/>
              </a:ext>
            </a:extLst>
          </p:cNvPr>
          <p:cNvSpPr>
            <a:spLocks noGrp="1"/>
          </p:cNvSpPr>
          <p:nvPr/>
        </p:nvSpPr>
        <p:spPr>
          <a:xfrm>
            <a:off x="5095875" y="3838575"/>
            <a:ext cx="1352550" cy="1047750"/>
          </a:xfrm>
          <a:prstGeom prst="roundRect">
            <a:avLst>
              <a:gd name="adj" fmla="val 7273"/>
            </a:avLst>
          </a:prstGeom>
          <a:solidFill>
            <a:srgbClr val="5AD2E6"/>
          </a:solidFill>
          <a:ln w="0">
            <a:solidFill>
              <a:srgbClr val="5AD2E6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2E0232-DDBE-4DEB-B52E-929909640A1C}"/>
              </a:ext>
            </a:extLst>
          </p:cNvPr>
          <p:cNvSpPr>
            <a:spLocks noGrp="1"/>
          </p:cNvSpPr>
          <p:nvPr/>
        </p:nvSpPr>
        <p:spPr>
          <a:xfrm>
            <a:off x="5172075" y="394335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E90A35-85CB-4E7F-8681-B67D638BAB33}"/>
              </a:ext>
            </a:extLst>
          </p:cNvPr>
          <p:cNvSpPr>
            <a:spLocks noGrp="1"/>
          </p:cNvSpPr>
          <p:nvPr/>
        </p:nvSpPr>
        <p:spPr>
          <a:xfrm>
            <a:off x="5495925" y="3943350"/>
            <a:ext cx="83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MEASURE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3C30A8-7AAC-48E9-9EB9-75A3F597C0EB}"/>
              </a:ext>
            </a:extLst>
          </p:cNvPr>
          <p:cNvSpPr>
            <a:spLocks noGrp="1"/>
          </p:cNvSpPr>
          <p:nvPr/>
        </p:nvSpPr>
        <p:spPr>
          <a:xfrm>
            <a:off x="5210175" y="4333875"/>
            <a:ext cx="1123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tokens + cost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D0E875-1214-4E42-B0B6-00834911C1C2}"/>
              </a:ext>
            </a:extLst>
          </p:cNvPr>
          <p:cNvSpPr>
            <a:spLocks noGrp="1"/>
          </p:cNvSpPr>
          <p:nvPr/>
        </p:nvSpPr>
        <p:spPr>
          <a:xfrm>
            <a:off x="6448425" y="4343400"/>
            <a:ext cx="190500" cy="381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E1DA5451-C9D0-4017-BA65-3E160DAE361A}"/>
              </a:ext>
            </a:extLst>
          </p:cNvPr>
          <p:cNvSpPr>
            <a:spLocks noGrp="1"/>
          </p:cNvSpPr>
          <p:nvPr/>
        </p:nvSpPr>
        <p:spPr>
          <a:xfrm rot="5400000">
            <a:off x="6600825" y="4267200"/>
            <a:ext cx="171450" cy="190500"/>
          </a:xfrm>
          <a:prstGeom prst="triangl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14F9410-29A7-4495-AB29-8082C8B217BF}"/>
              </a:ext>
            </a:extLst>
          </p:cNvPr>
          <p:cNvSpPr>
            <a:spLocks noGrp="1"/>
          </p:cNvSpPr>
          <p:nvPr/>
        </p:nvSpPr>
        <p:spPr>
          <a:xfrm>
            <a:off x="6638925" y="3838575"/>
            <a:ext cx="1352550" cy="1047750"/>
          </a:xfrm>
          <a:prstGeom prst="roundRect">
            <a:avLst>
              <a:gd name="adj" fmla="val 7273"/>
            </a:avLst>
          </a:prstGeom>
          <a:solidFill>
            <a:srgbClr val="9B8AFB"/>
          </a:solidFill>
          <a:ln w="0">
            <a:solidFill>
              <a:srgbClr val="9B8AFB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4888EB-4290-4B49-B28C-4E9BCDE82BDB}"/>
              </a:ext>
            </a:extLst>
          </p:cNvPr>
          <p:cNvSpPr>
            <a:spLocks noGrp="1"/>
          </p:cNvSpPr>
          <p:nvPr/>
        </p:nvSpPr>
        <p:spPr>
          <a:xfrm>
            <a:off x="6715125" y="394335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D70A978-21B6-44DB-A7C3-EE2D30C1F274}"/>
              </a:ext>
            </a:extLst>
          </p:cNvPr>
          <p:cNvSpPr>
            <a:spLocks noGrp="1"/>
          </p:cNvSpPr>
          <p:nvPr/>
        </p:nvSpPr>
        <p:spPr>
          <a:xfrm>
            <a:off x="7038975" y="3943350"/>
            <a:ext cx="83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ALERT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90BB20-D29D-4021-96E9-2BBCBA787966}"/>
              </a:ext>
            </a:extLst>
          </p:cNvPr>
          <p:cNvSpPr>
            <a:spLocks noGrp="1"/>
          </p:cNvSpPr>
          <p:nvPr/>
        </p:nvSpPr>
        <p:spPr>
          <a:xfrm>
            <a:off x="6753225" y="4333875"/>
            <a:ext cx="1123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daily / user budget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3D1646-B53D-4092-8D15-162451091FE7}"/>
              </a:ext>
            </a:extLst>
          </p:cNvPr>
          <p:cNvSpPr>
            <a:spLocks noGrp="1"/>
          </p:cNvSpPr>
          <p:nvPr/>
        </p:nvSpPr>
        <p:spPr>
          <a:xfrm>
            <a:off x="7991475" y="4343400"/>
            <a:ext cx="190500" cy="381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13A92F65-DC44-4109-975B-AFFB0B1E9560}"/>
              </a:ext>
            </a:extLst>
          </p:cNvPr>
          <p:cNvSpPr>
            <a:spLocks noGrp="1"/>
          </p:cNvSpPr>
          <p:nvPr/>
        </p:nvSpPr>
        <p:spPr>
          <a:xfrm rot="5400000">
            <a:off x="8143875" y="4267200"/>
            <a:ext cx="171450" cy="190500"/>
          </a:xfrm>
          <a:prstGeom prst="triangl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D18385E-2901-41A5-A813-DC3A0B1D63AE}"/>
              </a:ext>
            </a:extLst>
          </p:cNvPr>
          <p:cNvSpPr>
            <a:spLocks noGrp="1"/>
          </p:cNvSpPr>
          <p:nvPr/>
        </p:nvSpPr>
        <p:spPr>
          <a:xfrm>
            <a:off x="8181975" y="3838575"/>
            <a:ext cx="1352550" cy="1047750"/>
          </a:xfrm>
          <a:prstGeom prst="roundRect">
            <a:avLst>
              <a:gd name="adj" fmla="val 7273"/>
            </a:avLst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C7C813-2A73-4F3B-AAA5-0C639D5EB4FD}"/>
              </a:ext>
            </a:extLst>
          </p:cNvPr>
          <p:cNvSpPr>
            <a:spLocks noGrp="1"/>
          </p:cNvSpPr>
          <p:nvPr/>
        </p:nvSpPr>
        <p:spPr>
          <a:xfrm>
            <a:off x="8258175" y="394335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3C99EA-1DA4-4C3E-8AC6-106CB7A931B6}"/>
              </a:ext>
            </a:extLst>
          </p:cNvPr>
          <p:cNvSpPr>
            <a:spLocks noGrp="1"/>
          </p:cNvSpPr>
          <p:nvPr/>
        </p:nvSpPr>
        <p:spPr>
          <a:xfrm>
            <a:off x="8582025" y="3943350"/>
            <a:ext cx="83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CONTROL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364DA5-AD51-42E3-AB9F-71BF4D07C1BD}"/>
              </a:ext>
            </a:extLst>
          </p:cNvPr>
          <p:cNvSpPr>
            <a:spLocks noGrp="1"/>
          </p:cNvSpPr>
          <p:nvPr/>
        </p:nvSpPr>
        <p:spPr>
          <a:xfrm>
            <a:off x="8296275" y="4333875"/>
            <a:ext cx="1123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throttle + block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E7DA45A-4882-4804-8C90-0856CA1BA387}"/>
              </a:ext>
            </a:extLst>
          </p:cNvPr>
          <p:cNvSpPr>
            <a:spLocks noGrp="1"/>
          </p:cNvSpPr>
          <p:nvPr/>
        </p:nvSpPr>
        <p:spPr>
          <a:xfrm>
            <a:off x="9534525" y="4343400"/>
            <a:ext cx="190500" cy="381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AFEC0D3-48DB-46AC-964C-E76A565F7604}"/>
              </a:ext>
            </a:extLst>
          </p:cNvPr>
          <p:cNvSpPr>
            <a:spLocks noGrp="1"/>
          </p:cNvSpPr>
          <p:nvPr/>
        </p:nvSpPr>
        <p:spPr>
          <a:xfrm rot="5400000">
            <a:off x="9686925" y="4267200"/>
            <a:ext cx="171450" cy="190500"/>
          </a:xfrm>
          <a:prstGeom prst="triangl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BA8D4E9-2454-432D-A818-68449B4163D6}"/>
              </a:ext>
            </a:extLst>
          </p:cNvPr>
          <p:cNvSpPr>
            <a:spLocks noGrp="1"/>
          </p:cNvSpPr>
          <p:nvPr/>
        </p:nvSpPr>
        <p:spPr>
          <a:xfrm>
            <a:off x="9725025" y="3838575"/>
            <a:ext cx="1352550" cy="1047750"/>
          </a:xfrm>
          <a:prstGeom prst="roundRect">
            <a:avLst>
              <a:gd name="adj" fmla="val 7273"/>
            </a:avLst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202E108-BD25-4BA7-A24C-F0B764BE47B2}"/>
              </a:ext>
            </a:extLst>
          </p:cNvPr>
          <p:cNvSpPr>
            <a:spLocks noGrp="1"/>
          </p:cNvSpPr>
          <p:nvPr/>
        </p:nvSpPr>
        <p:spPr>
          <a:xfrm>
            <a:off x="9801225" y="3943350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180530-574F-4C1D-BD8F-1E756CCE67C0}"/>
              </a:ext>
            </a:extLst>
          </p:cNvPr>
          <p:cNvSpPr>
            <a:spLocks noGrp="1"/>
          </p:cNvSpPr>
          <p:nvPr/>
        </p:nvSpPr>
        <p:spPr>
          <a:xfrm>
            <a:off x="10125075" y="3943350"/>
            <a:ext cx="83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OPTIMIZE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A11036-84E6-470A-96E2-5882ED9BDEB6}"/>
              </a:ext>
            </a:extLst>
          </p:cNvPr>
          <p:cNvSpPr>
            <a:spLocks noGrp="1"/>
          </p:cNvSpPr>
          <p:nvPr/>
        </p:nvSpPr>
        <p:spPr>
          <a:xfrm>
            <a:off x="9839325" y="4333875"/>
            <a:ext cx="1123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route + compress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C1E84D6-EE6A-43B4-84B9-2EB2F3129889}"/>
              </a:ext>
            </a:extLst>
          </p:cNvPr>
          <p:cNvSpPr>
            <a:spLocks noGrp="1"/>
          </p:cNvSpPr>
          <p:nvPr/>
        </p:nvSpPr>
        <p:spPr>
          <a:xfrm>
            <a:off x="5095875" y="5095875"/>
            <a:ext cx="63341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Current platform: Level 1-2. Recommended next step: enforce Level 3 limits by user, team, and day.</a:t>
            </a:r>
          </a:p>
        </p:txBody>
      </p:sp>
    </p:spTree>
    <p:extLst>
      <p:ext uri="{BB962C8B-B14F-4D97-AF65-F5344CB8AC3E}">
        <p14:creationId xmlns:p14="http://schemas.microsoft.com/office/powerpoint/2010/main" val="551442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FA1EC47-19BB-4F96-B805-0239F6C849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" name="kicker-7-marker">
            <a:extLst>
              <a:ext uri="{FF2B5EF4-FFF2-40B4-BE49-F238E27FC236}">
                <a16:creationId xmlns:a16="http://schemas.microsoft.com/office/drawing/2014/main" id="{DE001276-7749-4F5E-93FC-EE0681F8FF12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" name="kicker-7-label">
            <a:extLst>
              <a:ext uri="{FF2B5EF4-FFF2-40B4-BE49-F238E27FC236}">
                <a16:creationId xmlns:a16="http://schemas.microsoft.com/office/drawing/2014/main" id="{7DF9C166-A734-4D50-B562-061B1C5BAD58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RELIABILITY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12E03B-08EE-4BE8-A3F6-76EB92F57812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15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Averages hide incidents. Tail latency shows where customers feel them.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92AFC7-E56E-4951-B4E8-34DD071D3AB5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3429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PROJECT LATENCY DISTRIBUTION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621678-D40A-49BD-8A66-896F987F0FF1}"/>
              </a:ext>
            </a:extLst>
          </p:cNvPr>
          <p:cNvSpPr>
            <a:spLocks noGrp="1"/>
          </p:cNvSpPr>
          <p:nvPr/>
        </p:nvSpPr>
        <p:spPr>
          <a:xfrm>
            <a:off x="571500" y="23812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P50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3DDCFBB-6911-4BE8-A616-1F02C3E6D189}"/>
              </a:ext>
            </a:extLst>
          </p:cNvPr>
          <p:cNvSpPr>
            <a:spLocks noGrp="1"/>
          </p:cNvSpPr>
          <p:nvPr/>
        </p:nvSpPr>
        <p:spPr>
          <a:xfrm>
            <a:off x="1190625" y="2400300"/>
            <a:ext cx="1000125" cy="266700"/>
          </a:xfrm>
          <a:prstGeom prst="roundRect">
            <a:avLst>
              <a:gd name="adj" fmla="val 28571"/>
            </a:avLst>
          </a:prstGeom>
          <a:solidFill>
            <a:srgbClr val="5AD2E6"/>
          </a:solidFill>
          <a:ln w="0">
            <a:solidFill>
              <a:srgbClr val="5AD2E6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A22031-FB54-407F-BBEC-2BE02CA49268}"/>
              </a:ext>
            </a:extLst>
          </p:cNvPr>
          <p:cNvSpPr>
            <a:spLocks noGrp="1"/>
          </p:cNvSpPr>
          <p:nvPr/>
        </p:nvSpPr>
        <p:spPr>
          <a:xfrm>
            <a:off x="2333625" y="2381250"/>
            <a:ext cx="904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1.91s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BD3339-1F95-47E4-BD7B-BB6606D9B72B}"/>
              </a:ext>
            </a:extLst>
          </p:cNvPr>
          <p:cNvSpPr>
            <a:spLocks noGrp="1"/>
          </p:cNvSpPr>
          <p:nvPr/>
        </p:nvSpPr>
        <p:spPr>
          <a:xfrm>
            <a:off x="571500" y="300990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AVG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912F7B3-8D99-446F-AAAE-CC3739072CE2}"/>
              </a:ext>
            </a:extLst>
          </p:cNvPr>
          <p:cNvSpPr>
            <a:spLocks noGrp="1"/>
          </p:cNvSpPr>
          <p:nvPr/>
        </p:nvSpPr>
        <p:spPr>
          <a:xfrm>
            <a:off x="1190625" y="3028950"/>
            <a:ext cx="1171575" cy="266700"/>
          </a:xfrm>
          <a:prstGeom prst="roundRect">
            <a:avLst>
              <a:gd name="adj" fmla="val 28571"/>
            </a:avLst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7EE2FA-4E4F-43D7-AC7F-534409F7D394}"/>
              </a:ext>
            </a:extLst>
          </p:cNvPr>
          <p:cNvSpPr>
            <a:spLocks noGrp="1"/>
          </p:cNvSpPr>
          <p:nvPr/>
        </p:nvSpPr>
        <p:spPr>
          <a:xfrm>
            <a:off x="2505075" y="3009900"/>
            <a:ext cx="904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2.23s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866549-763F-4848-80F1-AA68295D398B}"/>
              </a:ext>
            </a:extLst>
          </p:cNvPr>
          <p:cNvSpPr>
            <a:spLocks noGrp="1"/>
          </p:cNvSpPr>
          <p:nvPr/>
        </p:nvSpPr>
        <p:spPr>
          <a:xfrm>
            <a:off x="571500" y="36385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P95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64F31BA-08FF-461D-816B-509FCC75E879}"/>
              </a:ext>
            </a:extLst>
          </p:cNvPr>
          <p:cNvSpPr>
            <a:spLocks noGrp="1"/>
          </p:cNvSpPr>
          <p:nvPr/>
        </p:nvSpPr>
        <p:spPr>
          <a:xfrm>
            <a:off x="1190625" y="3657600"/>
            <a:ext cx="2209800" cy="266700"/>
          </a:xfrm>
          <a:prstGeom prst="roundRect">
            <a:avLst>
              <a:gd name="adj" fmla="val 28571"/>
            </a:avLst>
          </a:prstGeom>
          <a:solidFill>
            <a:srgbClr val="9B8AFB"/>
          </a:solidFill>
          <a:ln w="0">
            <a:solidFill>
              <a:srgbClr val="9B8AFB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8A43EF-EBA3-4BB3-8630-55CCA1044554}"/>
              </a:ext>
            </a:extLst>
          </p:cNvPr>
          <p:cNvSpPr>
            <a:spLocks noGrp="1"/>
          </p:cNvSpPr>
          <p:nvPr/>
        </p:nvSpPr>
        <p:spPr>
          <a:xfrm>
            <a:off x="3543300" y="3638550"/>
            <a:ext cx="904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4.24s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E3A3E4-C8E2-4AA6-9A7C-211F0EC1FF02}"/>
              </a:ext>
            </a:extLst>
          </p:cNvPr>
          <p:cNvSpPr>
            <a:spLocks noGrp="1"/>
          </p:cNvSpPr>
          <p:nvPr/>
        </p:nvSpPr>
        <p:spPr>
          <a:xfrm>
            <a:off x="571500" y="426720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P99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0AFD2F1-DFF4-4680-88F0-E122D94D180B}"/>
              </a:ext>
            </a:extLst>
          </p:cNvPr>
          <p:cNvSpPr>
            <a:spLocks noGrp="1"/>
          </p:cNvSpPr>
          <p:nvPr/>
        </p:nvSpPr>
        <p:spPr>
          <a:xfrm>
            <a:off x="1190625" y="4286250"/>
            <a:ext cx="3638550" cy="266700"/>
          </a:xfrm>
          <a:prstGeom prst="roundRect">
            <a:avLst>
              <a:gd name="adj" fmla="val 28571"/>
            </a:avLst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09C521-E578-45C3-B096-74BC325477E3}"/>
              </a:ext>
            </a:extLst>
          </p:cNvPr>
          <p:cNvSpPr>
            <a:spLocks noGrp="1"/>
          </p:cNvSpPr>
          <p:nvPr/>
        </p:nvSpPr>
        <p:spPr>
          <a:xfrm>
            <a:off x="4972050" y="4267200"/>
            <a:ext cx="904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6.97s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BE45F0-5F01-4126-952A-D75EC910E471}"/>
              </a:ext>
            </a:extLst>
          </p:cNvPr>
          <p:cNvSpPr>
            <a:spLocks noGrp="1"/>
          </p:cNvSpPr>
          <p:nvPr/>
        </p:nvSpPr>
        <p:spPr>
          <a:xfrm>
            <a:off x="571500" y="48958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MAX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EA87E86-DAA8-4735-9E14-5E696DE6BCCD}"/>
              </a:ext>
            </a:extLst>
          </p:cNvPr>
          <p:cNvSpPr>
            <a:spLocks noGrp="1"/>
          </p:cNvSpPr>
          <p:nvPr/>
        </p:nvSpPr>
        <p:spPr>
          <a:xfrm>
            <a:off x="1190625" y="4914900"/>
            <a:ext cx="4905375" cy="266700"/>
          </a:xfrm>
          <a:prstGeom prst="roundRect">
            <a:avLst>
              <a:gd name="adj" fmla="val 28571"/>
            </a:avLst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3D9A91-AEF6-4025-ABD1-934F9F8DF5B2}"/>
              </a:ext>
            </a:extLst>
          </p:cNvPr>
          <p:cNvSpPr>
            <a:spLocks noGrp="1"/>
          </p:cNvSpPr>
          <p:nvPr/>
        </p:nvSpPr>
        <p:spPr>
          <a:xfrm>
            <a:off x="6238875" y="4895850"/>
            <a:ext cx="904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12.10s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0FD081A-FAC9-4E17-9B49-987CB92253F4}"/>
              </a:ext>
            </a:extLst>
          </p:cNvPr>
          <p:cNvSpPr>
            <a:spLocks noGrp="1"/>
          </p:cNvSpPr>
          <p:nvPr/>
        </p:nvSpPr>
        <p:spPr>
          <a:xfrm>
            <a:off x="7191375" y="2000250"/>
            <a:ext cx="4333875" cy="3143250"/>
          </a:xfrm>
          <a:prstGeom prst="roundRect">
            <a:avLst>
              <a:gd name="adj" fmla="val 2424"/>
            </a:avLst>
          </a:prstGeom>
          <a:solidFill>
            <a:srgbClr val="19243A"/>
          </a:solidFill>
          <a:ln w="19050">
            <a:solidFill>
              <a:srgbClr val="3A4861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B74F47-8A6D-4FFF-97C0-3C556F4C3A91}"/>
              </a:ext>
            </a:extLst>
          </p:cNvPr>
          <p:cNvSpPr>
            <a:spLocks noGrp="1"/>
          </p:cNvSpPr>
          <p:nvPr/>
        </p:nvSpPr>
        <p:spPr>
          <a:xfrm>
            <a:off x="7477125" y="220980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WHAT INDUSTRY INCIDENTS SHOW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805309-C227-4499-A27D-D8EC408895BD}"/>
              </a:ext>
            </a:extLst>
          </p:cNvPr>
          <p:cNvSpPr>
            <a:spLocks noGrp="1"/>
          </p:cNvSpPr>
          <p:nvPr/>
        </p:nvSpPr>
        <p:spPr>
          <a:xfrm>
            <a:off x="7477125" y="2571750"/>
            <a:ext cx="34290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55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156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3CF537-B523-48AA-8922-9D68BB716645}"/>
              </a:ext>
            </a:extLst>
          </p:cNvPr>
          <p:cNvSpPr>
            <a:spLocks noGrp="1"/>
          </p:cNvSpPr>
          <p:nvPr/>
        </p:nvSpPr>
        <p:spPr>
          <a:xfrm>
            <a:off x="7477125" y="310515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high-severity incidents studied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CAE37D-E962-4249-B13E-73A047A9FA46}"/>
              </a:ext>
            </a:extLst>
          </p:cNvPr>
          <p:cNvSpPr>
            <a:spLocks noGrp="1"/>
          </p:cNvSpPr>
          <p:nvPr/>
        </p:nvSpPr>
        <p:spPr>
          <a:xfrm>
            <a:off x="7477125" y="3648075"/>
            <a:ext cx="123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25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~60%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397802-EEB8-4547-89B1-E08DC3CF4D30}"/>
              </a:ext>
            </a:extLst>
          </p:cNvPr>
          <p:cNvSpPr>
            <a:spLocks noGrp="1"/>
          </p:cNvSpPr>
          <p:nvPr/>
        </p:nvSpPr>
        <p:spPr>
          <a:xfrm>
            <a:off x="8715375" y="3648075"/>
            <a:ext cx="2333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inference-engine failures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AB7699-7D18-4BBD-B868-25087DE118A7}"/>
              </a:ext>
            </a:extLst>
          </p:cNvPr>
          <p:cNvSpPr>
            <a:spLocks noGrp="1"/>
          </p:cNvSpPr>
          <p:nvPr/>
        </p:nvSpPr>
        <p:spPr>
          <a:xfrm>
            <a:off x="7477125" y="4181475"/>
            <a:ext cx="123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225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~40%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CF4956-7EBF-45F5-B26D-7478443E315E}"/>
              </a:ext>
            </a:extLst>
          </p:cNvPr>
          <p:cNvSpPr>
            <a:spLocks noGrp="1"/>
          </p:cNvSpPr>
          <p:nvPr/>
        </p:nvSpPr>
        <p:spPr>
          <a:xfrm>
            <a:off x="8715375" y="4181475"/>
            <a:ext cx="2333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7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timeouts within that category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3FA071-1694-456A-B759-575CCE90EF09}"/>
              </a:ext>
            </a:extLst>
          </p:cNvPr>
          <p:cNvSpPr>
            <a:spLocks noGrp="1"/>
          </p:cNvSpPr>
          <p:nvPr/>
        </p:nvSpPr>
        <p:spPr>
          <a:xfrm>
            <a:off x="7477125" y="4591050"/>
            <a:ext cx="361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SOLUTION: alert on P95/P99, isolate dependencies, add fallback routing, and retain trace evidence.</a:t>
            </a:r>
          </a:p>
        </p:txBody>
      </p:sp>
    </p:spTree>
    <p:extLst>
      <p:ext uri="{BB962C8B-B14F-4D97-AF65-F5344CB8AC3E}">
        <p14:creationId xmlns:p14="http://schemas.microsoft.com/office/powerpoint/2010/main" val="1378441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30ADA79-7DDD-4413-903B-24261EC094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F7F3EA"/>
            </a:solidFill>
          </a:ln>
        </p:spPr>
      </p:sp>
      <p:sp>
        <p:nvSpPr>
          <p:cNvPr id="2" name="kicker-8-marker">
            <a:extLst>
              <a:ext uri="{FF2B5EF4-FFF2-40B4-BE49-F238E27FC236}">
                <a16:creationId xmlns:a16="http://schemas.microsoft.com/office/drawing/2014/main" id="{C18CBE09-AAB4-43CF-AA4C-EF52EB8B96D4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" name="kicker-8-label">
            <a:extLst>
              <a:ext uri="{FF2B5EF4-FFF2-40B4-BE49-F238E27FC236}">
                <a16:creationId xmlns:a16="http://schemas.microsoft.com/office/drawing/2014/main" id="{DC2042F7-4625-4ED8-BC83-218E4551F96E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t>DRIFT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96EC8E-747D-44BC-AF89-E5C93BF72B5F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075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Silent embedding change can break retrieval before the application throws an error.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3F6979-3336-41F3-A889-E9692B9BE61B}"/>
              </a:ext>
            </a:extLst>
          </p:cNvPr>
          <p:cNvSpPr>
            <a:spLocks noGrp="1"/>
          </p:cNvSpPr>
          <p:nvPr/>
        </p:nvSpPr>
        <p:spPr>
          <a:xfrm>
            <a:off x="590550" y="1924050"/>
            <a:ext cx="2667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68717D"/>
                </a:solidFill>
                <a:latin typeface="Arial"/>
                <a:ea typeface="Arial"/>
                <a:cs typeface="Arial"/>
              </a:defRPr>
            </a:pPr>
            <a:r>
              <a:t>THREE MEASUREMENT RUNS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485F21-B68B-447F-B230-311893A6924F}"/>
              </a:ext>
            </a:extLst>
          </p:cNvPr>
          <p:cNvSpPr>
            <a:spLocks noGrp="1"/>
          </p:cNvSpPr>
          <p:nvPr/>
        </p:nvSpPr>
        <p:spPr>
          <a:xfrm>
            <a:off x="1162050" y="3143250"/>
            <a:ext cx="8096250" cy="47625"/>
          </a:xfrm>
          <a:prstGeom prst="rect">
            <a:avLst/>
          </a:prstGeom>
          <a:solidFill>
            <a:srgbClr val="BFC4CB"/>
          </a:solidFill>
          <a:ln w="0">
            <a:solidFill>
              <a:srgbClr val="BFC4CB"/>
            </a:solidFill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3D195A-AF87-40E3-9EC5-335EAEC286DA}"/>
              </a:ext>
            </a:extLst>
          </p:cNvPr>
          <p:cNvSpPr>
            <a:spLocks noGrp="1"/>
          </p:cNvSpPr>
          <p:nvPr/>
        </p:nvSpPr>
        <p:spPr>
          <a:xfrm>
            <a:off x="1428750" y="2800350"/>
            <a:ext cx="723900" cy="723900"/>
          </a:xfrm>
          <a:prstGeom prst="ellipse">
            <a:avLst/>
          </a:prstGeom>
          <a:solidFill>
            <a:srgbClr val="5AD2E6"/>
          </a:solidFill>
          <a:ln w="0">
            <a:solidFill>
              <a:srgbClr val="5AD2E6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6DBCC0-795F-4175-80E6-7AF4032A13AF}"/>
              </a:ext>
            </a:extLst>
          </p:cNvPr>
          <p:cNvSpPr>
            <a:spLocks noGrp="1"/>
          </p:cNvSpPr>
          <p:nvPr/>
        </p:nvSpPr>
        <p:spPr>
          <a:xfrm>
            <a:off x="1428750" y="2800350"/>
            <a:ext cx="7239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8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570D73-468D-49E2-9F39-2CD97980AE64}"/>
              </a:ext>
            </a:extLst>
          </p:cNvPr>
          <p:cNvSpPr>
            <a:spLocks noGrp="1"/>
          </p:cNvSpPr>
          <p:nvPr/>
        </p:nvSpPr>
        <p:spPr>
          <a:xfrm>
            <a:off x="1000125" y="3667125"/>
            <a:ext cx="1581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BASELINE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F64BF8-E0D1-41B5-97B3-1EABC81BD5E0}"/>
              </a:ext>
            </a:extLst>
          </p:cNvPr>
          <p:cNvSpPr>
            <a:spLocks noGrp="1"/>
          </p:cNvSpPr>
          <p:nvPr/>
        </p:nvSpPr>
        <p:spPr>
          <a:xfrm>
            <a:off x="1000125" y="3981450"/>
            <a:ext cx="1581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20 healthy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CDBA6C6-FB1C-47CE-9D78-037D59DEC14C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723900" cy="723900"/>
          </a:xfrm>
          <a:prstGeom prst="ellipse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575B3B-40F8-4F93-BC1F-327BA4B9F1CB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7239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8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2802DB-C5F1-47B5-8B91-5DF042D4729A}"/>
              </a:ext>
            </a:extLst>
          </p:cNvPr>
          <p:cNvSpPr>
            <a:spLocks noGrp="1"/>
          </p:cNvSpPr>
          <p:nvPr/>
        </p:nvSpPr>
        <p:spPr>
          <a:xfrm>
            <a:off x="4524375" y="3667125"/>
            <a:ext cx="1581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CHANGED RUN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5D3020-DFE1-40EA-BBCD-4741E85A1960}"/>
              </a:ext>
            </a:extLst>
          </p:cNvPr>
          <p:cNvSpPr>
            <a:spLocks noGrp="1"/>
          </p:cNvSpPr>
          <p:nvPr/>
        </p:nvSpPr>
        <p:spPr>
          <a:xfrm>
            <a:off x="4524375" y="3981450"/>
            <a:ext cx="1581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20 anomalies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5A27269-A7B8-4F72-B763-FC2C6FBEB810}"/>
              </a:ext>
            </a:extLst>
          </p:cNvPr>
          <p:cNvSpPr>
            <a:spLocks noGrp="1"/>
          </p:cNvSpPr>
          <p:nvPr/>
        </p:nvSpPr>
        <p:spPr>
          <a:xfrm>
            <a:off x="8477250" y="2800350"/>
            <a:ext cx="723900" cy="7239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765793-F15A-4683-9078-DF70AFA2D906}"/>
              </a:ext>
            </a:extLst>
          </p:cNvPr>
          <p:cNvSpPr>
            <a:spLocks noGrp="1"/>
          </p:cNvSpPr>
          <p:nvPr/>
        </p:nvSpPr>
        <p:spPr>
          <a:xfrm>
            <a:off x="8477250" y="2800350"/>
            <a:ext cx="7239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8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EE8DFC-8151-4B57-9514-AD593004E933}"/>
              </a:ext>
            </a:extLst>
          </p:cNvPr>
          <p:cNvSpPr>
            <a:spLocks noGrp="1"/>
          </p:cNvSpPr>
          <p:nvPr/>
        </p:nvSpPr>
        <p:spPr>
          <a:xfrm>
            <a:off x="8048625" y="3667125"/>
            <a:ext cx="1581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LATEST RUN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394D04-0CA8-4A90-8AD1-B1319D9AA027}"/>
              </a:ext>
            </a:extLst>
          </p:cNvPr>
          <p:cNvSpPr>
            <a:spLocks noGrp="1"/>
          </p:cNvSpPr>
          <p:nvPr/>
        </p:nvSpPr>
        <p:spPr>
          <a:xfrm>
            <a:off x="8048625" y="3981450"/>
            <a:ext cx="1581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35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20 healthy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C5DD15B-EF1C-44C4-9DC4-EEEA29EAECD0}"/>
              </a:ext>
            </a:extLst>
          </p:cNvPr>
          <p:cNvSpPr>
            <a:spLocks noGrp="1"/>
          </p:cNvSpPr>
          <p:nvPr/>
        </p:nvSpPr>
        <p:spPr>
          <a:xfrm>
            <a:off x="9525000" y="2114550"/>
            <a:ext cx="2000250" cy="2647950"/>
          </a:xfrm>
          <a:prstGeom prst="roundRect">
            <a:avLst>
              <a:gd name="adj" fmla="val 3810"/>
            </a:avLst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C7D656-3B60-4843-BFC6-8598F91CBE2F}"/>
              </a:ext>
            </a:extLst>
          </p:cNvPr>
          <p:cNvSpPr>
            <a:spLocks noGrp="1"/>
          </p:cNvSpPr>
          <p:nvPr/>
        </p:nvSpPr>
        <p:spPr>
          <a:xfrm>
            <a:off x="9734550" y="2305050"/>
            <a:ext cx="1571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MONITORING RESPONSE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9F9F5A-55D9-4604-9E67-B06624377489}"/>
              </a:ext>
            </a:extLst>
          </p:cNvPr>
          <p:cNvSpPr>
            <a:spLocks noGrp="1"/>
          </p:cNvSpPr>
          <p:nvPr/>
        </p:nvSpPr>
        <p:spPr>
          <a:xfrm>
            <a:off x="9715500" y="285750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1. Freeze deployment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574DE8-9F7B-4CA7-A661-56F36DAC13FC}"/>
              </a:ext>
            </a:extLst>
          </p:cNvPr>
          <p:cNvSpPr>
            <a:spLocks noGrp="1"/>
          </p:cNvSpPr>
          <p:nvPr/>
        </p:nvSpPr>
        <p:spPr>
          <a:xfrm>
            <a:off x="9715500" y="3305175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2. Compare embedding model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FF0E21-4452-4143-908B-9E075EDE8395}"/>
              </a:ext>
            </a:extLst>
          </p:cNvPr>
          <p:cNvSpPr>
            <a:spLocks noGrp="1"/>
          </p:cNvSpPr>
          <p:nvPr/>
        </p:nvSpPr>
        <p:spPr>
          <a:xfrm>
            <a:off x="9715500" y="375285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3. Rebuild baseline if approved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7D3877-CEAE-4962-9890-9E49FBE3BE9B}"/>
              </a:ext>
            </a:extLst>
          </p:cNvPr>
          <p:cNvSpPr>
            <a:spLocks noGrp="1"/>
          </p:cNvSpPr>
          <p:nvPr/>
        </p:nvSpPr>
        <p:spPr>
          <a:xfrm>
            <a:off x="9715500" y="4200525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4. Re-index and regression test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AA8315-B01B-4C30-94B2-5B77355FFA73}"/>
              </a:ext>
            </a:extLst>
          </p:cNvPr>
          <p:cNvSpPr>
            <a:spLocks noGrp="1"/>
          </p:cNvSpPr>
          <p:nvPr/>
        </p:nvSpPr>
        <p:spPr>
          <a:xfrm>
            <a:off x="1828800" y="4905375"/>
            <a:ext cx="7810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20 anomalies across 60 measured queries made the hidden change visible.</a:t>
            </a:r>
          </a:p>
        </p:txBody>
      </p:sp>
    </p:spTree>
    <p:extLst>
      <p:ext uri="{BB962C8B-B14F-4D97-AF65-F5344CB8AC3E}">
        <p14:creationId xmlns:p14="http://schemas.microsoft.com/office/powerpoint/2010/main" val="538018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3F3263D-653F-4BCF-A612-F901CDFD5D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" name="kicker-9-marker">
            <a:extLst>
              <a:ext uri="{FF2B5EF4-FFF2-40B4-BE49-F238E27FC236}">
                <a16:creationId xmlns:a16="http://schemas.microsoft.com/office/drawing/2014/main" id="{C6DB7A4E-3DD1-499A-BD68-E93D33DF070E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" name="kicker-9-label">
            <a:extLst>
              <a:ext uri="{FF2B5EF4-FFF2-40B4-BE49-F238E27FC236}">
                <a16:creationId xmlns:a16="http://schemas.microsoft.com/office/drawing/2014/main" id="{887BE9FD-FCD4-4CC6-B6FF-6EE3479B3EE2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ENTERPRISE VALUE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19ED4D-53E2-4FEC-9D52-1E65000FC444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075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Enterprise AI scales when monitoring protects the workflow, not just the model.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C69030B-4C4E-47B6-A60A-792B88823192}"/>
              </a:ext>
            </a:extLst>
          </p:cNvPr>
          <p:cNvSpPr>
            <a:spLocks noGrp="1"/>
          </p:cNvSpPr>
          <p:nvPr/>
        </p:nvSpPr>
        <p:spPr>
          <a:xfrm>
            <a:off x="495300" y="2287905"/>
            <a:ext cx="3124200" cy="3333750"/>
          </a:xfrm>
          <a:prstGeom prst="roundRect">
            <a:avLst>
              <a:gd name="adj" fmla="val 2286"/>
            </a:avLst>
          </a:prstGeom>
          <a:solidFill>
            <a:srgbClr val="19243A"/>
          </a:solidFill>
          <a:ln w="19050">
            <a:solidFill>
              <a:srgbClr val="3A4861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341F1F-6C70-42CE-9798-3AA1194E67F1}"/>
              </a:ext>
            </a:extLst>
          </p:cNvPr>
          <p:cNvSpPr>
            <a:spLocks noGrp="1"/>
          </p:cNvSpPr>
          <p:nvPr/>
        </p:nvSpPr>
        <p:spPr>
          <a:xfrm>
            <a:off x="742950" y="2506980"/>
            <a:ext cx="1714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ALLSTATE CASE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43FCE4-2DB0-422D-9D9E-DC3A9A35F9AB}"/>
              </a:ext>
            </a:extLst>
          </p:cNvPr>
          <p:cNvSpPr>
            <a:spLocks noGrp="1"/>
          </p:cNvSpPr>
          <p:nvPr/>
        </p:nvSpPr>
        <p:spPr>
          <a:xfrm>
            <a:off x="742950" y="2926080"/>
            <a:ext cx="2667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15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~50,000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92F0F9-1537-4F7E-A554-422D97F19CCC}"/>
              </a:ext>
            </a:extLst>
          </p:cNvPr>
          <p:cNvSpPr>
            <a:spLocks noGrp="1"/>
          </p:cNvSpPr>
          <p:nvPr/>
        </p:nvSpPr>
        <p:spPr>
          <a:xfrm>
            <a:off x="742950" y="3497580"/>
            <a:ext cx="27622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350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daily claimant communications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616814-0A4B-403A-B337-0304A69CF9F2}"/>
              </a:ext>
            </a:extLst>
          </p:cNvPr>
          <p:cNvSpPr>
            <a:spLocks noGrp="1"/>
          </p:cNvSpPr>
          <p:nvPr/>
        </p:nvSpPr>
        <p:spPr>
          <a:xfrm>
            <a:off x="742950" y="4078605"/>
            <a:ext cx="2857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57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AI drafts the messages; human representatives verify accuracy before they go out.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AFB01-830B-48E7-80E7-D20B31AD96C3}"/>
              </a:ext>
            </a:extLst>
          </p:cNvPr>
          <p:cNvSpPr>
            <a:spLocks noGrp="1"/>
          </p:cNvSpPr>
          <p:nvPr/>
        </p:nvSpPr>
        <p:spPr>
          <a:xfrm>
            <a:off x="742950" y="509778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Lesson: automation + grounding + review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59E7BA-14B1-420B-9D6B-F5C0CA3A9690}"/>
              </a:ext>
            </a:extLst>
          </p:cNvPr>
          <p:cNvSpPr>
            <a:spLocks noGrp="1"/>
          </p:cNvSpPr>
          <p:nvPr/>
        </p:nvSpPr>
        <p:spPr>
          <a:xfrm>
            <a:off x="6689527" y="2619682"/>
            <a:ext cx="2310328" cy="2190750"/>
          </a:xfrm>
          <a:prstGeom prst="ellipse">
            <a:avLst/>
          </a:prstGeom>
          <a:solidFill>
            <a:srgbClr val="5AD2E6"/>
          </a:solidFill>
          <a:ln w="0">
            <a:solidFill>
              <a:srgbClr val="5AD2E6"/>
            </a:solidFill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196B11-E538-4C46-85A0-64146883F290}"/>
              </a:ext>
            </a:extLst>
          </p:cNvPr>
          <p:cNvSpPr>
            <a:spLocks noGrp="1"/>
          </p:cNvSpPr>
          <p:nvPr/>
        </p:nvSpPr>
        <p:spPr>
          <a:xfrm>
            <a:off x="7217767" y="3086100"/>
            <a:ext cx="1305838" cy="1238250"/>
          </a:xfrm>
          <a:prstGeom prst="ellips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86BA3B-02BC-4299-865C-7E3C5A8DFA86}"/>
              </a:ext>
            </a:extLst>
          </p:cNvPr>
          <p:cNvSpPr>
            <a:spLocks noGrp="1"/>
          </p:cNvSpPr>
          <p:nvPr/>
        </p:nvSpPr>
        <p:spPr>
          <a:xfrm>
            <a:off x="7227599" y="3095932"/>
            <a:ext cx="1305838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20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rPr dirty="0"/>
              <a:t>SHARED</a:t>
            </a:r>
          </a:p>
          <a:p>
            <a:pPr algn="ctr">
              <a:defRPr sz="120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rPr dirty="0"/>
              <a:t>CONTROL</a:t>
            </a:r>
          </a:p>
          <a:p>
            <a:pPr algn="ctr">
              <a:defRPr sz="120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rPr dirty="0"/>
              <a:t>PLANE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1A435AA-ED03-4D5E-9F2D-7A18F086E52D}"/>
              </a:ext>
            </a:extLst>
          </p:cNvPr>
          <p:cNvSpPr>
            <a:spLocks noGrp="1"/>
          </p:cNvSpPr>
          <p:nvPr/>
        </p:nvSpPr>
        <p:spPr>
          <a:xfrm>
            <a:off x="3954103" y="2133906"/>
            <a:ext cx="266700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19050">
            <a:solidFill>
              <a:srgbClr val="FF675C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05D0E3-E00D-41B4-9E62-3E7D95CC923E}"/>
              </a:ext>
            </a:extLst>
          </p:cNvPr>
          <p:cNvSpPr>
            <a:spLocks noGrp="1"/>
          </p:cNvSpPr>
          <p:nvPr/>
        </p:nvSpPr>
        <p:spPr>
          <a:xfrm>
            <a:off x="4096978" y="2248206"/>
            <a:ext cx="2381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rPr dirty="0"/>
              <a:t>CUSTOMER CARE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459C8D-46F2-4F7C-B74C-8D23C41329EF}"/>
              </a:ext>
            </a:extLst>
          </p:cNvPr>
          <p:cNvSpPr>
            <a:spLocks noGrp="1"/>
          </p:cNvSpPr>
          <p:nvPr/>
        </p:nvSpPr>
        <p:spPr>
          <a:xfrm>
            <a:off x="4096978" y="2572056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rPr dirty="0"/>
              <a:t>quality + escalation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F007D49-04EC-45E0-A9B0-E8FFE46717F2}"/>
              </a:ext>
            </a:extLst>
          </p:cNvPr>
          <p:cNvSpPr>
            <a:spLocks noGrp="1"/>
          </p:cNvSpPr>
          <p:nvPr/>
        </p:nvSpPr>
        <p:spPr>
          <a:xfrm>
            <a:off x="3966086" y="4422672"/>
            <a:ext cx="266700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19050">
            <a:solidFill>
              <a:srgbClr val="5AD2E6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6DD5B8-6021-4E0A-98F9-2641B92538EA}"/>
              </a:ext>
            </a:extLst>
          </p:cNvPr>
          <p:cNvSpPr>
            <a:spLocks noGrp="1"/>
          </p:cNvSpPr>
          <p:nvPr/>
        </p:nvSpPr>
        <p:spPr>
          <a:xfrm>
            <a:off x="4108961" y="4536972"/>
            <a:ext cx="2381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rPr dirty="0"/>
              <a:t>KNOWLEDGE COPILOT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A85AE5-1F9A-458F-9F87-EE558D15347A}"/>
              </a:ext>
            </a:extLst>
          </p:cNvPr>
          <p:cNvSpPr>
            <a:spLocks noGrp="1"/>
          </p:cNvSpPr>
          <p:nvPr/>
        </p:nvSpPr>
        <p:spPr>
          <a:xfrm>
            <a:off x="4108961" y="4860822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grounding + freshness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4DAF797-ECA3-4C22-8599-63AA0FB4B856}"/>
              </a:ext>
            </a:extLst>
          </p:cNvPr>
          <p:cNvSpPr>
            <a:spLocks noGrp="1"/>
          </p:cNvSpPr>
          <p:nvPr/>
        </p:nvSpPr>
        <p:spPr>
          <a:xfrm>
            <a:off x="9062536" y="4448175"/>
            <a:ext cx="266700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19050">
            <a:solidFill>
              <a:srgbClr val="9B8AFB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D0293F-A995-40B1-9C94-9822944733D3}"/>
              </a:ext>
            </a:extLst>
          </p:cNvPr>
          <p:cNvSpPr>
            <a:spLocks noGrp="1"/>
          </p:cNvSpPr>
          <p:nvPr/>
        </p:nvSpPr>
        <p:spPr>
          <a:xfrm>
            <a:off x="9205411" y="4562475"/>
            <a:ext cx="2381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rPr dirty="0"/>
              <a:t>COMPLIANCE Q&amp;A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B98298-1F8E-4AC0-BD8C-90106B51BFC9}"/>
              </a:ext>
            </a:extLst>
          </p:cNvPr>
          <p:cNvSpPr>
            <a:spLocks noGrp="1"/>
          </p:cNvSpPr>
          <p:nvPr/>
        </p:nvSpPr>
        <p:spPr>
          <a:xfrm>
            <a:off x="9205411" y="488632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safety + audit trail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94CA95A-B9A7-46B2-81DF-B6FB3E7E1A0B}"/>
              </a:ext>
            </a:extLst>
          </p:cNvPr>
          <p:cNvSpPr>
            <a:spLocks noGrp="1"/>
          </p:cNvSpPr>
          <p:nvPr/>
        </p:nvSpPr>
        <p:spPr>
          <a:xfrm>
            <a:off x="9044626" y="2129133"/>
            <a:ext cx="266700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19050">
            <a:solidFill>
              <a:srgbClr val="C8F56A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8AFF0B-BB4D-4F9C-8D52-A7C0B44D87D3}"/>
              </a:ext>
            </a:extLst>
          </p:cNvPr>
          <p:cNvSpPr>
            <a:spLocks noGrp="1"/>
          </p:cNvSpPr>
          <p:nvPr/>
        </p:nvSpPr>
        <p:spPr>
          <a:xfrm>
            <a:off x="9187501" y="2243433"/>
            <a:ext cx="23812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TECHNICAL SUPPORT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A92632-23BD-4774-B49A-E819E8B70080}"/>
              </a:ext>
            </a:extLst>
          </p:cNvPr>
          <p:cNvSpPr>
            <a:spLocks noGrp="1"/>
          </p:cNvSpPr>
          <p:nvPr/>
        </p:nvSpPr>
        <p:spPr>
          <a:xfrm>
            <a:off x="9187501" y="2567283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rPr dirty="0"/>
              <a:t>latency + failures</a:t>
            </a:r>
          </a:p>
        </p:txBody>
      </p:sp>
    </p:spTree>
    <p:extLst>
      <p:ext uri="{BB962C8B-B14F-4D97-AF65-F5344CB8AC3E}">
        <p14:creationId xmlns:p14="http://schemas.microsoft.com/office/powerpoint/2010/main" val="383210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B92D0FD6-38DC-4A79-9F91-99EA07A1D0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F7F3EA"/>
            </a:solidFill>
          </a:ln>
        </p:spPr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03E3D4A7-C582-4E39-A609-7F821F8BED81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36ED3BB6-5EC9-4B6F-A4FA-5B9715096154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t>OUR SOLUTION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A8EE0A-D441-4A76-9F25-E617C6A8B607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00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Our platform has the monitoring foundation; enforcement is the next maturity step.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3257433-E0CF-4DFA-A36E-B190D9528371}"/>
              </a:ext>
            </a:extLst>
          </p:cNvPr>
          <p:cNvSpPr>
            <a:spLocks noGrp="1"/>
          </p:cNvSpPr>
          <p:nvPr/>
        </p:nvSpPr>
        <p:spPr>
          <a:xfrm>
            <a:off x="495300" y="2143125"/>
            <a:ext cx="19526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5AD2E6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B14CB4-C246-40E2-B58A-74EC36D70C79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RAG PIPELINE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66915C-76A7-4580-829C-D2FF041E209F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FAISS + Azure OpenAI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FEA4B6-4FEC-4389-9D50-945BDE7F9E36}"/>
              </a:ext>
            </a:extLst>
          </p:cNvPr>
          <p:cNvSpPr>
            <a:spLocks noGrp="1"/>
          </p:cNvSpPr>
          <p:nvPr/>
        </p:nvSpPr>
        <p:spPr>
          <a:xfrm>
            <a:off x="2447925" y="2628900"/>
            <a:ext cx="285750" cy="381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4291A919-1776-4E48-AA5A-7055EC25DB22}"/>
              </a:ext>
            </a:extLst>
          </p:cNvPr>
          <p:cNvSpPr>
            <a:spLocks noGrp="1"/>
          </p:cNvSpPr>
          <p:nvPr/>
        </p:nvSpPr>
        <p:spPr>
          <a:xfrm rot="5400000">
            <a:off x="2695575" y="2552700"/>
            <a:ext cx="171450" cy="190500"/>
          </a:xfrm>
          <a:prstGeom prst="triangl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6F63647-CF38-4B27-A55B-17647657DA2A}"/>
              </a:ext>
            </a:extLst>
          </p:cNvPr>
          <p:cNvSpPr>
            <a:spLocks noGrp="1"/>
          </p:cNvSpPr>
          <p:nvPr/>
        </p:nvSpPr>
        <p:spPr>
          <a:xfrm>
            <a:off x="2762250" y="2143125"/>
            <a:ext cx="19526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9B8AFB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2E8309-2261-43B7-8725-6AFB206246EA}"/>
              </a:ext>
            </a:extLst>
          </p:cNvPr>
          <p:cNvSpPr>
            <a:spLocks noGrp="1"/>
          </p:cNvSpPr>
          <p:nvPr/>
        </p:nvSpPr>
        <p:spPr>
          <a:xfrm>
            <a:off x="2876550" y="230505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LOGGER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D496D3-E0A0-4BAD-B07F-DF4F11C8AAFC}"/>
              </a:ext>
            </a:extLst>
          </p:cNvPr>
          <p:cNvSpPr>
            <a:spLocks noGrp="1"/>
          </p:cNvSpPr>
          <p:nvPr/>
        </p:nvSpPr>
        <p:spPr>
          <a:xfrm>
            <a:off x="2876550" y="266700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CSV + SQLite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9C8207-F6EF-4FF2-A575-9D407D662CC9}"/>
              </a:ext>
            </a:extLst>
          </p:cNvPr>
          <p:cNvSpPr>
            <a:spLocks noGrp="1"/>
          </p:cNvSpPr>
          <p:nvPr/>
        </p:nvSpPr>
        <p:spPr>
          <a:xfrm>
            <a:off x="4714875" y="2628900"/>
            <a:ext cx="285750" cy="381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8F3813D0-3EBC-42B1-BBF4-C84CD1A83A07}"/>
              </a:ext>
            </a:extLst>
          </p:cNvPr>
          <p:cNvSpPr>
            <a:spLocks noGrp="1"/>
          </p:cNvSpPr>
          <p:nvPr/>
        </p:nvSpPr>
        <p:spPr>
          <a:xfrm rot="5400000">
            <a:off x="4962525" y="2552700"/>
            <a:ext cx="171450" cy="190500"/>
          </a:xfrm>
          <a:prstGeom prst="triangl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7AA4DFE-DE0E-4040-A0C8-0392B0452F34}"/>
              </a:ext>
            </a:extLst>
          </p:cNvPr>
          <p:cNvSpPr>
            <a:spLocks noGrp="1"/>
          </p:cNvSpPr>
          <p:nvPr/>
        </p:nvSpPr>
        <p:spPr>
          <a:xfrm>
            <a:off x="5029200" y="2143125"/>
            <a:ext cx="19526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C8F56A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B4C931-6705-4D99-8643-54F11D44B1D1}"/>
              </a:ext>
            </a:extLst>
          </p:cNvPr>
          <p:cNvSpPr>
            <a:spLocks noGrp="1"/>
          </p:cNvSpPr>
          <p:nvPr/>
        </p:nvSpPr>
        <p:spPr>
          <a:xfrm>
            <a:off x="5143500" y="230505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ANALYTICS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FB21DC-477D-43BB-8901-FF4BA2E4F988}"/>
              </a:ext>
            </a:extLst>
          </p:cNvPr>
          <p:cNvSpPr>
            <a:spLocks noGrp="1"/>
          </p:cNvSpPr>
          <p:nvPr/>
        </p:nvSpPr>
        <p:spPr>
          <a:xfrm>
            <a:off x="5143500" y="266700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tokens, cost, latency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B81F67-0F9C-4FA5-98C7-F2C12A1AB70F}"/>
              </a:ext>
            </a:extLst>
          </p:cNvPr>
          <p:cNvSpPr>
            <a:spLocks noGrp="1"/>
          </p:cNvSpPr>
          <p:nvPr/>
        </p:nvSpPr>
        <p:spPr>
          <a:xfrm>
            <a:off x="6981825" y="2628900"/>
            <a:ext cx="285750" cy="381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E6CEAA39-3CEE-4332-93B5-9D255825DF8F}"/>
              </a:ext>
            </a:extLst>
          </p:cNvPr>
          <p:cNvSpPr>
            <a:spLocks noGrp="1"/>
          </p:cNvSpPr>
          <p:nvPr/>
        </p:nvSpPr>
        <p:spPr>
          <a:xfrm rot="5400000">
            <a:off x="7229475" y="2552700"/>
            <a:ext cx="171450" cy="190500"/>
          </a:xfrm>
          <a:prstGeom prst="triangl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5AABDB4-5588-4FA7-A99F-78304419C72A}"/>
              </a:ext>
            </a:extLst>
          </p:cNvPr>
          <p:cNvSpPr>
            <a:spLocks noGrp="1"/>
          </p:cNvSpPr>
          <p:nvPr/>
        </p:nvSpPr>
        <p:spPr>
          <a:xfrm>
            <a:off x="7296150" y="2143125"/>
            <a:ext cx="19526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FF675C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7548F3-73FB-4E26-9CAC-36247987C313}"/>
              </a:ext>
            </a:extLst>
          </p:cNvPr>
          <p:cNvSpPr>
            <a:spLocks noGrp="1"/>
          </p:cNvSpPr>
          <p:nvPr/>
        </p:nvSpPr>
        <p:spPr>
          <a:xfrm>
            <a:off x="7410450" y="230505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EVALUATION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9C40E9-411C-42C8-9A72-7E914517DE5F}"/>
              </a:ext>
            </a:extLst>
          </p:cNvPr>
          <p:cNvSpPr>
            <a:spLocks noGrp="1"/>
          </p:cNvSpPr>
          <p:nvPr/>
        </p:nvSpPr>
        <p:spPr>
          <a:xfrm>
            <a:off x="7410450" y="266700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quality + safety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0FC132-A40D-4A77-B0EF-447E06D58DA4}"/>
              </a:ext>
            </a:extLst>
          </p:cNvPr>
          <p:cNvSpPr>
            <a:spLocks noGrp="1"/>
          </p:cNvSpPr>
          <p:nvPr/>
        </p:nvSpPr>
        <p:spPr>
          <a:xfrm>
            <a:off x="9248775" y="2628900"/>
            <a:ext cx="285750" cy="381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E326FB1-F792-47D3-BBB5-8487CFA9FB95}"/>
              </a:ext>
            </a:extLst>
          </p:cNvPr>
          <p:cNvSpPr>
            <a:spLocks noGrp="1"/>
          </p:cNvSpPr>
          <p:nvPr/>
        </p:nvSpPr>
        <p:spPr>
          <a:xfrm rot="5400000">
            <a:off x="9496425" y="2552700"/>
            <a:ext cx="171450" cy="190500"/>
          </a:xfrm>
          <a:prstGeom prst="triangle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EF05F0C-6938-4B27-A700-552F54E9ED8D}"/>
              </a:ext>
            </a:extLst>
          </p:cNvPr>
          <p:cNvSpPr>
            <a:spLocks noGrp="1"/>
          </p:cNvSpPr>
          <p:nvPr/>
        </p:nvSpPr>
        <p:spPr>
          <a:xfrm>
            <a:off x="9563100" y="2143125"/>
            <a:ext cx="19526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5AD2E6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7D8ABA-8FF4-4F39-B62D-3B35F8D1C5BC}"/>
              </a:ext>
            </a:extLst>
          </p:cNvPr>
          <p:cNvSpPr>
            <a:spLocks noGrp="1"/>
          </p:cNvSpPr>
          <p:nvPr/>
        </p:nvSpPr>
        <p:spPr>
          <a:xfrm>
            <a:off x="9677400" y="230505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DASHBOARD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F3A7FA-FD82-4E6F-92A1-4410FB8B90F0}"/>
              </a:ext>
            </a:extLst>
          </p:cNvPr>
          <p:cNvSpPr>
            <a:spLocks noGrp="1"/>
          </p:cNvSpPr>
          <p:nvPr/>
        </p:nvSpPr>
        <p:spPr>
          <a:xfrm>
            <a:off x="9677400" y="2667000"/>
            <a:ext cx="17240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alerts + evidence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A96EA2-CB5E-40FA-8D97-587867CFC24A}"/>
              </a:ext>
            </a:extLst>
          </p:cNvPr>
          <p:cNvSpPr>
            <a:spLocks noGrp="1"/>
          </p:cNvSpPr>
          <p:nvPr/>
        </p:nvSpPr>
        <p:spPr>
          <a:xfrm>
            <a:off x="495300" y="3714750"/>
            <a:ext cx="2476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68717D"/>
                </a:solidFill>
                <a:latin typeface="Arial"/>
                <a:ea typeface="Arial"/>
                <a:cs typeface="Arial"/>
              </a:defRPr>
            </a:pPr>
            <a:r>
              <a:t>MATURITY ROADMAP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B4EEBA6-A8D3-4920-874E-D8FB8886229D}"/>
              </a:ext>
            </a:extLst>
          </p:cNvPr>
          <p:cNvSpPr>
            <a:spLocks noGrp="1"/>
          </p:cNvSpPr>
          <p:nvPr/>
        </p:nvSpPr>
        <p:spPr>
          <a:xfrm>
            <a:off x="495300" y="4095750"/>
            <a:ext cx="2524125" cy="1190625"/>
          </a:xfrm>
          <a:prstGeom prst="roundRect">
            <a:avLst>
              <a:gd name="adj" fmla="val 6400"/>
            </a:avLst>
          </a:prstGeom>
          <a:solidFill>
            <a:srgbClr val="5AD2E6"/>
          </a:solidFill>
          <a:ln w="0">
            <a:solidFill>
              <a:srgbClr val="5AD2E6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78541A2-65ED-4C3D-92B9-D3E8DB711FB6}"/>
              </a:ext>
            </a:extLst>
          </p:cNvPr>
          <p:cNvSpPr>
            <a:spLocks noGrp="1"/>
          </p:cNvSpPr>
          <p:nvPr/>
        </p:nvSpPr>
        <p:spPr>
          <a:xfrm>
            <a:off x="666750" y="42291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NOW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6D017F-1B2C-4E8E-AB44-3445196D018E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80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Observe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B9BC0C-59F3-4636-9171-D6676F3D40CE}"/>
              </a:ext>
            </a:extLst>
          </p:cNvPr>
          <p:cNvSpPr>
            <a:spLocks noGrp="1"/>
          </p:cNvSpPr>
          <p:nvPr/>
        </p:nvSpPr>
        <p:spPr>
          <a:xfrm>
            <a:off x="666750" y="4895850"/>
            <a:ext cx="2190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dashboards + reports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517DB7E-3CB6-415D-A17E-3B194D1AC1BA}"/>
              </a:ext>
            </a:extLst>
          </p:cNvPr>
          <p:cNvSpPr>
            <a:spLocks noGrp="1"/>
          </p:cNvSpPr>
          <p:nvPr/>
        </p:nvSpPr>
        <p:spPr>
          <a:xfrm>
            <a:off x="3295650" y="4095750"/>
            <a:ext cx="2524125" cy="1190625"/>
          </a:xfrm>
          <a:prstGeom prst="roundRect">
            <a:avLst>
              <a:gd name="adj" fmla="val 6400"/>
            </a:avLst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838B30-432F-4617-977D-0F755DC853B8}"/>
              </a:ext>
            </a:extLst>
          </p:cNvPr>
          <p:cNvSpPr>
            <a:spLocks noGrp="1"/>
          </p:cNvSpPr>
          <p:nvPr/>
        </p:nvSpPr>
        <p:spPr>
          <a:xfrm>
            <a:off x="3467100" y="42291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NEXT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01FA5B2-8282-40C1-88DA-45723D1B2916}"/>
              </a:ext>
            </a:extLst>
          </p:cNvPr>
          <p:cNvSpPr>
            <a:spLocks noGrp="1"/>
          </p:cNvSpPr>
          <p:nvPr/>
        </p:nvSpPr>
        <p:spPr>
          <a:xfrm>
            <a:off x="3467100" y="45148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80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Control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E4281D-B86D-4976-9A0C-222941EF980C}"/>
              </a:ext>
            </a:extLst>
          </p:cNvPr>
          <p:cNvSpPr>
            <a:spLocks noGrp="1"/>
          </p:cNvSpPr>
          <p:nvPr/>
        </p:nvSpPr>
        <p:spPr>
          <a:xfrm>
            <a:off x="3467100" y="4895850"/>
            <a:ext cx="2190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hard budgets + throttling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DF1191E-7CDB-478A-952D-7D376B4CCE59}"/>
              </a:ext>
            </a:extLst>
          </p:cNvPr>
          <p:cNvSpPr>
            <a:spLocks noGrp="1"/>
          </p:cNvSpPr>
          <p:nvPr/>
        </p:nvSpPr>
        <p:spPr>
          <a:xfrm>
            <a:off x="6096000" y="4095750"/>
            <a:ext cx="2524125" cy="1190625"/>
          </a:xfrm>
          <a:prstGeom prst="roundRect">
            <a:avLst>
              <a:gd name="adj" fmla="val 6400"/>
            </a:avLst>
          </a:prstGeom>
          <a:solidFill>
            <a:srgbClr val="9B8AFB"/>
          </a:solidFill>
          <a:ln w="0">
            <a:solidFill>
              <a:srgbClr val="9B8AFB"/>
            </a:solidFill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C598A9F-E9A0-46E2-8721-8FAB48FD2047}"/>
              </a:ext>
            </a:extLst>
          </p:cNvPr>
          <p:cNvSpPr>
            <a:spLocks noGrp="1"/>
          </p:cNvSpPr>
          <p:nvPr/>
        </p:nvSpPr>
        <p:spPr>
          <a:xfrm>
            <a:off x="6267450" y="42291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THEN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AAACDDE-699C-48A6-B229-88E37FBDBFED}"/>
              </a:ext>
            </a:extLst>
          </p:cNvPr>
          <p:cNvSpPr>
            <a:spLocks noGrp="1"/>
          </p:cNvSpPr>
          <p:nvPr/>
        </p:nvSpPr>
        <p:spPr>
          <a:xfrm>
            <a:off x="6267450" y="45148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80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Automate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CBFF8E-7783-4145-A5C3-3A14092C1B9B}"/>
              </a:ext>
            </a:extLst>
          </p:cNvPr>
          <p:cNvSpPr>
            <a:spLocks noGrp="1"/>
          </p:cNvSpPr>
          <p:nvPr/>
        </p:nvSpPr>
        <p:spPr>
          <a:xfrm>
            <a:off x="6267450" y="4895850"/>
            <a:ext cx="2190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fallbacks + rollback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BADC8046-92C2-4D6C-9AE5-C7DF8BA1AA6B}"/>
              </a:ext>
            </a:extLst>
          </p:cNvPr>
          <p:cNvSpPr>
            <a:spLocks noGrp="1"/>
          </p:cNvSpPr>
          <p:nvPr/>
        </p:nvSpPr>
        <p:spPr>
          <a:xfrm>
            <a:off x="8896350" y="4095750"/>
            <a:ext cx="2524125" cy="1190625"/>
          </a:xfrm>
          <a:prstGeom prst="roundRect">
            <a:avLst>
              <a:gd name="adj" fmla="val 6400"/>
            </a:avLst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3F196B3-0046-4863-A2C7-BEE866BB788B}"/>
              </a:ext>
            </a:extLst>
          </p:cNvPr>
          <p:cNvSpPr>
            <a:spLocks noGrp="1"/>
          </p:cNvSpPr>
          <p:nvPr/>
        </p:nvSpPr>
        <p:spPr>
          <a:xfrm>
            <a:off x="9067800" y="42291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SCALE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3747190-072D-4770-B087-087F501F14BC}"/>
              </a:ext>
            </a:extLst>
          </p:cNvPr>
          <p:cNvSpPr>
            <a:spLocks noGrp="1"/>
          </p:cNvSpPr>
          <p:nvPr/>
        </p:nvSpPr>
        <p:spPr>
          <a:xfrm>
            <a:off x="9067800" y="45148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800" b="1">
                <a:solidFill>
                  <a:srgbClr val="101827"/>
                </a:solidFill>
                <a:latin typeface="Arial Black"/>
                <a:ea typeface="Arial Black"/>
                <a:cs typeface="Arial Black"/>
              </a:defRPr>
            </a:pPr>
            <a:r>
              <a:t>Govern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AD004A0-1531-49BF-A138-FDB610697A7A}"/>
              </a:ext>
            </a:extLst>
          </p:cNvPr>
          <p:cNvSpPr>
            <a:spLocks noGrp="1"/>
          </p:cNvSpPr>
          <p:nvPr/>
        </p:nvSpPr>
        <p:spPr>
          <a:xfrm>
            <a:off x="9067800" y="4895850"/>
            <a:ext cx="2190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0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owners + SLOs + audit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1494BA4-8B92-4B47-80FF-2E77AFA7E674}"/>
              </a:ext>
            </a:extLst>
          </p:cNvPr>
          <p:cNvSpPr>
            <a:spLocks noGrp="1"/>
          </p:cNvSpPr>
          <p:nvPr/>
        </p:nvSpPr>
        <p:spPr>
          <a:xfrm>
            <a:off x="1619250" y="5657850"/>
            <a:ext cx="8953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5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Monitoring is not the final control. It is the evidence layer that makes automated control safe.</a:t>
            </a:r>
          </a:p>
        </p:txBody>
      </p:sp>
    </p:spTree>
    <p:extLst>
      <p:ext uri="{BB962C8B-B14F-4D97-AF65-F5344CB8AC3E}">
        <p14:creationId xmlns:p14="http://schemas.microsoft.com/office/powerpoint/2010/main" val="1101145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AA2F6AB-E445-4AA9-A32A-D0C6F95095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02B3D5-65B6-4A4E-AA51-3B1ACB85E223}"/>
              </a:ext>
            </a:extLst>
          </p:cNvPr>
          <p:cNvSpPr>
            <a:spLocks noGrp="1"/>
          </p:cNvSpPr>
          <p:nvPr/>
        </p:nvSpPr>
        <p:spPr>
          <a:xfrm>
            <a:off x="514350" y="37147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rPr dirty="0" smtClean="0"/>
              <a:t>ACTION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B1AA60-E72E-4889-A82D-3D708CCCB964}"/>
              </a:ext>
            </a:extLst>
          </p:cNvPr>
          <p:cNvSpPr>
            <a:spLocks noGrp="1"/>
          </p:cNvSpPr>
          <p:nvPr/>
        </p:nvSpPr>
        <p:spPr>
          <a:xfrm>
            <a:off x="514350" y="914400"/>
            <a:ext cx="7810500" cy="1476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4125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Monitor what matters.</a:t>
            </a:r>
          </a:p>
          <a:p>
            <a:pPr algn="l">
              <a:defRPr sz="4125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Then automate the response.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478656-12BD-4DFF-B315-13CF6C722611}"/>
              </a:ext>
            </a:extLst>
          </p:cNvPr>
          <p:cNvSpPr>
            <a:spLocks noGrp="1"/>
          </p:cNvSpPr>
          <p:nvPr/>
        </p:nvSpPr>
        <p:spPr>
          <a:xfrm>
            <a:off x="552450" y="2657475"/>
            <a:ext cx="7143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725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Start with one workflow and make five signals operational.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D6C9021-DA08-4CC8-A6FE-6186E2B0DEC5}"/>
              </a:ext>
            </a:extLst>
          </p:cNvPr>
          <p:cNvSpPr>
            <a:spLocks noGrp="1"/>
          </p:cNvSpPr>
          <p:nvPr/>
        </p:nvSpPr>
        <p:spPr>
          <a:xfrm>
            <a:off x="514350" y="3638550"/>
            <a:ext cx="2000250" cy="1257300"/>
          </a:xfrm>
          <a:prstGeom prst="roundRect">
            <a:avLst>
              <a:gd name="adj" fmla="val 6061"/>
            </a:avLst>
          </a:prstGeom>
          <a:solidFill>
            <a:srgbClr val="19243A"/>
          </a:solidFill>
          <a:ln w="19050">
            <a:solidFill>
              <a:srgbClr val="9B8AFB"/>
            </a:solidFill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C74A680-9C90-49D0-B7E7-AB3A7C7D6F8C}"/>
              </a:ext>
            </a:extLst>
          </p:cNvPr>
          <p:cNvSpPr>
            <a:spLocks noGrp="1"/>
          </p:cNvSpPr>
          <p:nvPr/>
        </p:nvSpPr>
        <p:spPr>
          <a:xfrm>
            <a:off x="657225" y="3790950"/>
            <a:ext cx="323850" cy="323850"/>
          </a:xfrm>
          <a:prstGeom prst="ellipse">
            <a:avLst/>
          </a:prstGeom>
          <a:solidFill>
            <a:srgbClr val="9B8AFB"/>
          </a:solidFill>
          <a:ln w="0">
            <a:solidFill>
              <a:srgbClr val="9B8AF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43B445-F5D7-4F21-B71F-7C72C2EF13D9}"/>
              </a:ext>
            </a:extLst>
          </p:cNvPr>
          <p:cNvSpPr>
            <a:spLocks noGrp="1"/>
          </p:cNvSpPr>
          <p:nvPr/>
        </p:nvSpPr>
        <p:spPr>
          <a:xfrm>
            <a:off x="657225" y="3790950"/>
            <a:ext cx="323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877015-4C00-4144-B438-81DB38FDB0FA}"/>
              </a:ext>
            </a:extLst>
          </p:cNvPr>
          <p:cNvSpPr>
            <a:spLocks noGrp="1"/>
          </p:cNvSpPr>
          <p:nvPr/>
        </p:nvSpPr>
        <p:spPr>
          <a:xfrm>
            <a:off x="1038225" y="3781425"/>
            <a:ext cx="1285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QUALITY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ED5222-3EB5-49C3-92D4-A5167B589CC7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657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faithfulness + groundedness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9B041AC-06A5-49D3-82BE-229CB27A33F8}"/>
              </a:ext>
            </a:extLst>
          </p:cNvPr>
          <p:cNvSpPr>
            <a:spLocks noGrp="1"/>
          </p:cNvSpPr>
          <p:nvPr/>
        </p:nvSpPr>
        <p:spPr>
          <a:xfrm>
            <a:off x="2762250" y="3638550"/>
            <a:ext cx="2000250" cy="1257300"/>
          </a:xfrm>
          <a:prstGeom prst="roundRect">
            <a:avLst>
              <a:gd name="adj" fmla="val 6061"/>
            </a:avLst>
          </a:prstGeom>
          <a:solidFill>
            <a:srgbClr val="19243A"/>
          </a:solidFill>
          <a:ln w="19050">
            <a:solidFill>
              <a:srgbClr val="C8F56A"/>
            </a:solidFill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8E4C6EB-3678-4B8D-B6FD-43A557E126AA}"/>
              </a:ext>
            </a:extLst>
          </p:cNvPr>
          <p:cNvSpPr>
            <a:spLocks noGrp="1"/>
          </p:cNvSpPr>
          <p:nvPr/>
        </p:nvSpPr>
        <p:spPr>
          <a:xfrm>
            <a:off x="2905125" y="3790950"/>
            <a:ext cx="323850" cy="32385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EF4277-BBA8-4363-856F-AEF43C4CF68A}"/>
              </a:ext>
            </a:extLst>
          </p:cNvPr>
          <p:cNvSpPr>
            <a:spLocks noGrp="1"/>
          </p:cNvSpPr>
          <p:nvPr/>
        </p:nvSpPr>
        <p:spPr>
          <a:xfrm>
            <a:off x="2905125" y="3790950"/>
            <a:ext cx="323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CC46D-30E1-4C1F-AA89-F9D7A04E6A77}"/>
              </a:ext>
            </a:extLst>
          </p:cNvPr>
          <p:cNvSpPr>
            <a:spLocks noGrp="1"/>
          </p:cNvSpPr>
          <p:nvPr/>
        </p:nvSpPr>
        <p:spPr>
          <a:xfrm>
            <a:off x="3286125" y="3781425"/>
            <a:ext cx="1285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COST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D22D04-E77E-4ADA-BA19-A95A7A598367}"/>
              </a:ext>
            </a:extLst>
          </p:cNvPr>
          <p:cNvSpPr>
            <a:spLocks noGrp="1"/>
          </p:cNvSpPr>
          <p:nvPr/>
        </p:nvSpPr>
        <p:spPr>
          <a:xfrm>
            <a:off x="2933700" y="4267200"/>
            <a:ext cx="1657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tokens + budgets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603A83C-F07F-4A12-B92A-9F002837CD0B}"/>
              </a:ext>
            </a:extLst>
          </p:cNvPr>
          <p:cNvSpPr>
            <a:spLocks noGrp="1"/>
          </p:cNvSpPr>
          <p:nvPr/>
        </p:nvSpPr>
        <p:spPr>
          <a:xfrm>
            <a:off x="5010150" y="3638550"/>
            <a:ext cx="2000250" cy="1257300"/>
          </a:xfrm>
          <a:prstGeom prst="roundRect">
            <a:avLst>
              <a:gd name="adj" fmla="val 6061"/>
            </a:avLst>
          </a:prstGeom>
          <a:solidFill>
            <a:srgbClr val="19243A"/>
          </a:solidFill>
          <a:ln w="19050">
            <a:solidFill>
              <a:srgbClr val="5AD2E6"/>
            </a:solidFill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F0383AF-98B2-4410-BE18-852B375AFDC7}"/>
              </a:ext>
            </a:extLst>
          </p:cNvPr>
          <p:cNvSpPr>
            <a:spLocks noGrp="1"/>
          </p:cNvSpPr>
          <p:nvPr/>
        </p:nvSpPr>
        <p:spPr>
          <a:xfrm>
            <a:off x="5153025" y="3790950"/>
            <a:ext cx="323850" cy="323850"/>
          </a:xfrm>
          <a:prstGeom prst="ellipse">
            <a:avLst/>
          </a:prstGeom>
          <a:solidFill>
            <a:srgbClr val="5AD2E6"/>
          </a:solidFill>
          <a:ln w="0">
            <a:solidFill>
              <a:srgbClr val="5AD2E6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86257F-C892-40E5-A983-7A38905F4C6D}"/>
              </a:ext>
            </a:extLst>
          </p:cNvPr>
          <p:cNvSpPr>
            <a:spLocks noGrp="1"/>
          </p:cNvSpPr>
          <p:nvPr/>
        </p:nvSpPr>
        <p:spPr>
          <a:xfrm>
            <a:off x="5153025" y="3790950"/>
            <a:ext cx="323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98DA2C-7A32-4B2D-832F-06FC7540F6C3}"/>
              </a:ext>
            </a:extLst>
          </p:cNvPr>
          <p:cNvSpPr>
            <a:spLocks noGrp="1"/>
          </p:cNvSpPr>
          <p:nvPr/>
        </p:nvSpPr>
        <p:spPr>
          <a:xfrm>
            <a:off x="5534025" y="3781425"/>
            <a:ext cx="1285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RELIABILITY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B890B6-76FB-4C95-A0F4-139A8DEE7876}"/>
              </a:ext>
            </a:extLst>
          </p:cNvPr>
          <p:cNvSpPr>
            <a:spLocks noGrp="1"/>
          </p:cNvSpPr>
          <p:nvPr/>
        </p:nvSpPr>
        <p:spPr>
          <a:xfrm>
            <a:off x="5181600" y="4267200"/>
            <a:ext cx="1657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P95 + errors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9AEC82F-9E2F-470A-9004-8822E6616251}"/>
              </a:ext>
            </a:extLst>
          </p:cNvPr>
          <p:cNvSpPr>
            <a:spLocks noGrp="1"/>
          </p:cNvSpPr>
          <p:nvPr/>
        </p:nvSpPr>
        <p:spPr>
          <a:xfrm>
            <a:off x="7258050" y="3638550"/>
            <a:ext cx="2000250" cy="1257300"/>
          </a:xfrm>
          <a:prstGeom prst="roundRect">
            <a:avLst>
              <a:gd name="adj" fmla="val 6061"/>
            </a:avLst>
          </a:prstGeom>
          <a:solidFill>
            <a:srgbClr val="19243A"/>
          </a:solidFill>
          <a:ln w="19050">
            <a:solidFill>
              <a:srgbClr val="FF675C"/>
            </a:solidFill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23A723D-63E3-4586-B7DE-C0CA35A184C9}"/>
              </a:ext>
            </a:extLst>
          </p:cNvPr>
          <p:cNvSpPr>
            <a:spLocks noGrp="1"/>
          </p:cNvSpPr>
          <p:nvPr/>
        </p:nvSpPr>
        <p:spPr>
          <a:xfrm>
            <a:off x="7400925" y="3790950"/>
            <a:ext cx="323850" cy="323850"/>
          </a:xfrm>
          <a:prstGeom prst="ellipse">
            <a:avLst/>
          </a:prstGeom>
          <a:solidFill>
            <a:srgbClr val="FF675C"/>
          </a:solidFill>
          <a:ln w="0">
            <a:solidFill>
              <a:srgbClr val="FF675C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F473F8-E894-4FAE-8D2F-EFBE4D2F8697}"/>
              </a:ext>
            </a:extLst>
          </p:cNvPr>
          <p:cNvSpPr>
            <a:spLocks noGrp="1"/>
          </p:cNvSpPr>
          <p:nvPr/>
        </p:nvSpPr>
        <p:spPr>
          <a:xfrm>
            <a:off x="7400925" y="3790950"/>
            <a:ext cx="323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57A8BD-5781-47B3-8A9C-83191E57B550}"/>
              </a:ext>
            </a:extLst>
          </p:cNvPr>
          <p:cNvSpPr>
            <a:spLocks noGrp="1"/>
          </p:cNvSpPr>
          <p:nvPr/>
        </p:nvSpPr>
        <p:spPr>
          <a:xfrm>
            <a:off x="7781925" y="3781425"/>
            <a:ext cx="1285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SAFETY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999C93-C003-49AE-ADF6-A313E64DAD78}"/>
              </a:ext>
            </a:extLst>
          </p:cNvPr>
          <p:cNvSpPr>
            <a:spLocks noGrp="1"/>
          </p:cNvSpPr>
          <p:nvPr/>
        </p:nvSpPr>
        <p:spPr>
          <a:xfrm>
            <a:off x="7429500" y="4267200"/>
            <a:ext cx="1657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flags + edge cases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F00DC2E-1113-44A8-BDAE-EA44DCD32877}"/>
              </a:ext>
            </a:extLst>
          </p:cNvPr>
          <p:cNvSpPr>
            <a:spLocks noGrp="1"/>
          </p:cNvSpPr>
          <p:nvPr/>
        </p:nvSpPr>
        <p:spPr>
          <a:xfrm>
            <a:off x="9505950" y="3638550"/>
            <a:ext cx="2000250" cy="1257300"/>
          </a:xfrm>
          <a:prstGeom prst="roundRect">
            <a:avLst>
              <a:gd name="adj" fmla="val 6061"/>
            </a:avLst>
          </a:prstGeom>
          <a:solidFill>
            <a:srgbClr val="19243A"/>
          </a:solidFill>
          <a:ln w="19050">
            <a:solidFill>
              <a:srgbClr val="9B8AFB"/>
            </a:solidFill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E5C5E46-F4F8-44DF-B11C-769510750ACB}"/>
              </a:ext>
            </a:extLst>
          </p:cNvPr>
          <p:cNvSpPr>
            <a:spLocks noGrp="1"/>
          </p:cNvSpPr>
          <p:nvPr/>
        </p:nvSpPr>
        <p:spPr>
          <a:xfrm>
            <a:off x="9648825" y="3790950"/>
            <a:ext cx="323850" cy="323850"/>
          </a:xfrm>
          <a:prstGeom prst="ellipse">
            <a:avLst/>
          </a:prstGeom>
          <a:solidFill>
            <a:srgbClr val="9B8AFB"/>
          </a:solidFill>
          <a:ln w="0">
            <a:solidFill>
              <a:srgbClr val="9B8AFB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B0D3BA-3574-4F29-8DAF-9C3F12EEDD52}"/>
              </a:ext>
            </a:extLst>
          </p:cNvPr>
          <p:cNvSpPr>
            <a:spLocks noGrp="1"/>
          </p:cNvSpPr>
          <p:nvPr/>
        </p:nvSpPr>
        <p:spPr>
          <a:xfrm>
            <a:off x="9648825" y="3790950"/>
            <a:ext cx="323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3E620A-7B52-4284-B2BB-7AF277666DD7}"/>
              </a:ext>
            </a:extLst>
          </p:cNvPr>
          <p:cNvSpPr>
            <a:spLocks noGrp="1"/>
          </p:cNvSpPr>
          <p:nvPr/>
        </p:nvSpPr>
        <p:spPr>
          <a:xfrm>
            <a:off x="10029825" y="3781425"/>
            <a:ext cx="12858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125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DRIFT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6A40A0-40C0-4A2B-83E9-05C7FF8CEA95}"/>
              </a:ext>
            </a:extLst>
          </p:cNvPr>
          <p:cNvSpPr>
            <a:spLocks noGrp="1"/>
          </p:cNvSpPr>
          <p:nvPr/>
        </p:nvSpPr>
        <p:spPr>
          <a:xfrm>
            <a:off x="9677400" y="4267200"/>
            <a:ext cx="1657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125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baseline + anomalies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7EF397-FFD4-4E6B-A872-5C0A538336A2}"/>
              </a:ext>
            </a:extLst>
          </p:cNvPr>
          <p:cNvSpPr>
            <a:spLocks noGrp="1"/>
          </p:cNvSpPr>
          <p:nvPr/>
        </p:nvSpPr>
        <p:spPr>
          <a:xfrm>
            <a:off x="514350" y="5476875"/>
            <a:ext cx="11163300" cy="19050"/>
          </a:xfrm>
          <a:prstGeom prst="rect">
            <a:avLst/>
          </a:prstGeom>
          <a:solidFill>
            <a:srgbClr val="344158"/>
          </a:solidFill>
          <a:ln w="0">
            <a:solidFill>
              <a:srgbClr val="344158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87BD3A-3DCE-4504-A07B-BDA91FA9348F}"/>
              </a:ext>
            </a:extLst>
          </p:cNvPr>
          <p:cNvSpPr>
            <a:spLocks noGrp="1"/>
          </p:cNvSpPr>
          <p:nvPr/>
        </p:nvSpPr>
        <p:spPr>
          <a:xfrm>
            <a:off x="514350" y="5762625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800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Owner + threshold + action = a metric that protects the business.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40000AF-BDDE-4F12-9593-AE6380708E27}"/>
              </a:ext>
            </a:extLst>
          </p:cNvPr>
          <p:cNvSpPr>
            <a:spLocks noGrp="1"/>
          </p:cNvSpPr>
          <p:nvPr/>
        </p:nvSpPr>
        <p:spPr>
          <a:xfrm>
            <a:off x="10782300" y="5619750"/>
            <a:ext cx="742950" cy="74295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237B8A-159F-475D-8F52-12F5CE4D3119}"/>
              </a:ext>
            </a:extLst>
          </p:cNvPr>
          <p:cNvSpPr>
            <a:spLocks noGrp="1"/>
          </p:cNvSpPr>
          <p:nvPr/>
        </p:nvSpPr>
        <p:spPr>
          <a:xfrm>
            <a:off x="10782300" y="5619750"/>
            <a:ext cx="7429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ctr">
              <a:defRPr sz="1575" b="1">
                <a:solidFill>
                  <a:srgbClr val="101827"/>
                </a:solidFill>
                <a:latin typeface="Arial"/>
                <a:ea typeface="Arial"/>
                <a:cs typeface="Arial"/>
              </a:defRPr>
            </a:pPr>
            <a:r>
              <a:t>GO</a:t>
            </a:r>
          </a:p>
        </p:txBody>
      </p:sp>
    </p:spTree>
    <p:extLst>
      <p:ext uri="{BB962C8B-B14F-4D97-AF65-F5344CB8AC3E}">
        <p14:creationId xmlns:p14="http://schemas.microsoft.com/office/powerpoint/2010/main" val="844768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C269E741-A563-4523-A3AE-E24582F5E5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101827"/>
            </a:solidFill>
          </a:ln>
        </p:spPr>
      </p:sp>
      <p:sp>
        <p:nvSpPr>
          <p:cNvPr id="2" name="kicker-12-marker">
            <a:extLst>
              <a:ext uri="{FF2B5EF4-FFF2-40B4-BE49-F238E27FC236}">
                <a16:creationId xmlns:a16="http://schemas.microsoft.com/office/drawing/2014/main" id="{1711CD7B-DAA8-4734-BAC5-D834E57472E1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14300" cy="114300"/>
          </a:xfrm>
          <a:prstGeom prst="ellipse">
            <a:avLst/>
          </a:prstGeom>
          <a:solidFill>
            <a:srgbClr val="C8F56A"/>
          </a:solidFill>
          <a:ln w="0">
            <a:solidFill>
              <a:srgbClr val="C8F56A"/>
            </a:solidFill>
          </a:ln>
        </p:spPr>
      </p:sp>
      <p:sp>
        <p:nvSpPr>
          <p:cNvPr id="3" name="kicker-12-label">
            <a:extLst>
              <a:ext uri="{FF2B5EF4-FFF2-40B4-BE49-F238E27FC236}">
                <a16:creationId xmlns:a16="http://schemas.microsoft.com/office/drawing/2014/main" id="{2EDF1ABA-CB6B-42C2-94D5-B52F5E686630}"/>
              </a:ext>
            </a:extLst>
          </p:cNvPr>
          <p:cNvSpPr>
            <a:spLocks noGrp="1"/>
          </p:cNvSpPr>
          <p:nvPr/>
        </p:nvSpPr>
        <p:spPr>
          <a:xfrm>
            <a:off x="685800" y="219075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SOURCES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39382F-64C5-4A00-8BFF-2AD47B9C3EE8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1182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3000" b="1">
                <a:solidFill>
                  <a:srgbClr val="F7F3EA"/>
                </a:solidFill>
                <a:latin typeface="Arial Black"/>
                <a:ea typeface="Arial Black"/>
                <a:cs typeface="Arial Black"/>
              </a:defRPr>
            </a:pPr>
            <a:r>
              <a:t>Reading list and evidence used in this briefing.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7713E6E-1710-48AA-9513-09CD8F6EC498}"/>
              </a:ext>
            </a:extLst>
          </p:cNvPr>
          <p:cNvSpPr>
            <a:spLocks noGrp="1"/>
          </p:cNvSpPr>
          <p:nvPr/>
        </p:nvSpPr>
        <p:spPr>
          <a:xfrm>
            <a:off x="495300" y="1857375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507840-05B3-4A15-966E-7A07C032C1F6}"/>
              </a:ext>
            </a:extLst>
          </p:cNvPr>
          <p:cNvSpPr>
            <a:spLocks noGrp="1"/>
          </p:cNvSpPr>
          <p:nvPr/>
        </p:nvSpPr>
        <p:spPr>
          <a:xfrm>
            <a:off x="647700" y="1981200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AE4B7C-B380-4480-A8A9-DCB132BCC512}"/>
              </a:ext>
            </a:extLst>
          </p:cNvPr>
          <p:cNvSpPr>
            <a:spLocks noGrp="1"/>
          </p:cNvSpPr>
          <p:nvPr/>
        </p:nvSpPr>
        <p:spPr>
          <a:xfrm>
            <a:off x="1209675" y="1933575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NIST AI 600-1: Generative AI Profile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C9B39B-0D8B-43AA-8B5D-4279C6EEEB89}"/>
              </a:ext>
            </a:extLst>
          </p:cNvPr>
          <p:cNvSpPr>
            <a:spLocks noGrp="1"/>
          </p:cNvSpPr>
          <p:nvPr/>
        </p:nvSpPr>
        <p:spPr>
          <a:xfrm>
            <a:off x="1209675" y="2257425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nist.gov/publications/artificial-intelligence-risk-management-framework-generative-artificial-intelligence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DE0E675-1A97-4D1B-8B41-E3830D2D2826}"/>
              </a:ext>
            </a:extLst>
          </p:cNvPr>
          <p:cNvSpPr>
            <a:spLocks noGrp="1"/>
          </p:cNvSpPr>
          <p:nvPr/>
        </p:nvSpPr>
        <p:spPr>
          <a:xfrm>
            <a:off x="495300" y="2857500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A07580-1AA3-48FB-AC66-EDC4A773DB26}"/>
              </a:ext>
            </a:extLst>
          </p:cNvPr>
          <p:cNvSpPr>
            <a:spLocks noGrp="1"/>
          </p:cNvSpPr>
          <p:nvPr/>
        </p:nvSpPr>
        <p:spPr>
          <a:xfrm>
            <a:off x="647700" y="2981325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800DFE-8C1C-4991-A443-631C82D942C0}"/>
              </a:ext>
            </a:extLst>
          </p:cNvPr>
          <p:cNvSpPr>
            <a:spLocks noGrp="1"/>
          </p:cNvSpPr>
          <p:nvPr/>
        </p:nvSpPr>
        <p:spPr>
          <a:xfrm>
            <a:off x="1209675" y="2933700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Microsoft: Monitor generative AI applications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BEF6B3-AD5B-47FF-81D5-2CCDBBB3D466}"/>
              </a:ext>
            </a:extLst>
          </p:cNvPr>
          <p:cNvSpPr>
            <a:spLocks noGrp="1"/>
          </p:cNvSpPr>
          <p:nvPr/>
        </p:nvSpPr>
        <p:spPr>
          <a:xfrm>
            <a:off x="1209675" y="3257550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learn.microsoft.com/en-us/azure/foundry-classic/how-to/monitor-applications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00C8039-06D2-4E68-9A16-F4A67DA961A7}"/>
              </a:ext>
            </a:extLst>
          </p:cNvPr>
          <p:cNvSpPr>
            <a:spLocks noGrp="1"/>
          </p:cNvSpPr>
          <p:nvPr/>
        </p:nvSpPr>
        <p:spPr>
          <a:xfrm>
            <a:off x="495300" y="3857625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8C8DDF-AD61-4C6A-9F60-36B444D0E4EE}"/>
              </a:ext>
            </a:extLst>
          </p:cNvPr>
          <p:cNvSpPr>
            <a:spLocks noGrp="1"/>
          </p:cNvSpPr>
          <p:nvPr/>
        </p:nvSpPr>
        <p:spPr>
          <a:xfrm>
            <a:off x="647700" y="3981450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D5CFD4-3EAA-450B-AB3C-6F87F3E9E6D7}"/>
              </a:ext>
            </a:extLst>
          </p:cNvPr>
          <p:cNvSpPr>
            <a:spLocks noGrp="1"/>
          </p:cNvSpPr>
          <p:nvPr/>
        </p:nvSpPr>
        <p:spPr>
          <a:xfrm>
            <a:off x="1209675" y="3933825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OWASP Top 10 for LLM Applications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83E6A2-F202-4F55-B958-052932DD1C20}"/>
              </a:ext>
            </a:extLst>
          </p:cNvPr>
          <p:cNvSpPr>
            <a:spLocks noGrp="1"/>
          </p:cNvSpPr>
          <p:nvPr/>
        </p:nvSpPr>
        <p:spPr>
          <a:xfrm>
            <a:off x="1209675" y="4257675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owasp.org/www-project-top-10-for-large-language-model-applications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06CA77A-C0DF-4E74-B3AA-31057EB3BB7F}"/>
              </a:ext>
            </a:extLst>
          </p:cNvPr>
          <p:cNvSpPr>
            <a:spLocks noGrp="1"/>
          </p:cNvSpPr>
          <p:nvPr/>
        </p:nvSpPr>
        <p:spPr>
          <a:xfrm>
            <a:off x="495300" y="4857750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860617-ED11-41C2-BFC6-0778D47BA632}"/>
              </a:ext>
            </a:extLst>
          </p:cNvPr>
          <p:cNvSpPr>
            <a:spLocks noGrp="1"/>
          </p:cNvSpPr>
          <p:nvPr/>
        </p:nvSpPr>
        <p:spPr>
          <a:xfrm>
            <a:off x="647700" y="4981575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AE87B9-86B1-4D5B-AECE-5B64052C26B1}"/>
              </a:ext>
            </a:extLst>
          </p:cNvPr>
          <p:cNvSpPr>
            <a:spLocks noGrp="1"/>
          </p:cNvSpPr>
          <p:nvPr/>
        </p:nvSpPr>
        <p:spPr>
          <a:xfrm>
            <a:off x="1209675" y="4933950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Tom's Hardware / Axios-reported anonymous Claude cost claim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7785E1-03ED-4E3C-85C8-F220F3CD23C2}"/>
              </a:ext>
            </a:extLst>
          </p:cNvPr>
          <p:cNvSpPr>
            <a:spLocks noGrp="1"/>
          </p:cNvSpPr>
          <p:nvPr/>
        </p:nvSpPr>
        <p:spPr>
          <a:xfrm>
            <a:off x="1209675" y="5257800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tomshardware.com/.../mystery-company-accidentally-blew-usd500-million-on-claude...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EE5C8C6-EB53-49F9-8D47-0B8343B82EB8}"/>
              </a:ext>
            </a:extLst>
          </p:cNvPr>
          <p:cNvSpPr>
            <a:spLocks noGrp="1"/>
          </p:cNvSpPr>
          <p:nvPr/>
        </p:nvSpPr>
        <p:spPr>
          <a:xfrm>
            <a:off x="6229350" y="1857375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A44010-C632-44CB-ABFB-2A8EE1B1DA1D}"/>
              </a:ext>
            </a:extLst>
          </p:cNvPr>
          <p:cNvSpPr>
            <a:spLocks noGrp="1"/>
          </p:cNvSpPr>
          <p:nvPr/>
        </p:nvSpPr>
        <p:spPr>
          <a:xfrm>
            <a:off x="6381750" y="1981200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9B6806-2F76-4E4E-8479-EF1C10BE1A5F}"/>
              </a:ext>
            </a:extLst>
          </p:cNvPr>
          <p:cNvSpPr>
            <a:spLocks noGrp="1"/>
          </p:cNvSpPr>
          <p:nvPr/>
        </p:nvSpPr>
        <p:spPr>
          <a:xfrm>
            <a:off x="6943725" y="1933575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Enhancing reliability in AI inference services: 156 incidents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FDF52F-2945-4A42-B6D8-2972B5381CFD}"/>
              </a:ext>
            </a:extLst>
          </p:cNvPr>
          <p:cNvSpPr>
            <a:spLocks noGrp="1"/>
          </p:cNvSpPr>
          <p:nvPr/>
        </p:nvSpPr>
        <p:spPr>
          <a:xfrm>
            <a:off x="6943725" y="2257425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arxiv.org/abs/2511.07424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0C52C8E-0580-4AAB-B0DE-F083DB0D628F}"/>
              </a:ext>
            </a:extLst>
          </p:cNvPr>
          <p:cNvSpPr>
            <a:spLocks noGrp="1"/>
          </p:cNvSpPr>
          <p:nvPr/>
        </p:nvSpPr>
        <p:spPr>
          <a:xfrm>
            <a:off x="6229350" y="2857500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7798F2-0E22-46A1-948C-B568415008BC}"/>
              </a:ext>
            </a:extLst>
          </p:cNvPr>
          <p:cNvSpPr>
            <a:spLocks noGrp="1"/>
          </p:cNvSpPr>
          <p:nvPr/>
        </p:nvSpPr>
        <p:spPr>
          <a:xfrm>
            <a:off x="6381750" y="2981325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A920AC-2705-4DB6-8700-4AE966B7240D}"/>
              </a:ext>
            </a:extLst>
          </p:cNvPr>
          <p:cNvSpPr>
            <a:spLocks noGrp="1"/>
          </p:cNvSpPr>
          <p:nvPr/>
        </p:nvSpPr>
        <p:spPr>
          <a:xfrm>
            <a:off x="6943725" y="2933700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Production incidents in Generative AI cloud services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8175A48-3B7C-42FF-A78F-CADF7C06799E}"/>
              </a:ext>
            </a:extLst>
          </p:cNvPr>
          <p:cNvSpPr>
            <a:spLocks noGrp="1"/>
          </p:cNvSpPr>
          <p:nvPr/>
        </p:nvSpPr>
        <p:spPr>
          <a:xfrm>
            <a:off x="6943725" y="3257550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arxiv.org/abs/2504.08865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F4E9293-1479-449B-9841-C472FE52AEB9}"/>
              </a:ext>
            </a:extLst>
          </p:cNvPr>
          <p:cNvSpPr>
            <a:spLocks noGrp="1"/>
          </p:cNvSpPr>
          <p:nvPr/>
        </p:nvSpPr>
        <p:spPr>
          <a:xfrm>
            <a:off x="6229350" y="3857625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AD91D0-B524-474F-91A7-8D3F1802B078}"/>
              </a:ext>
            </a:extLst>
          </p:cNvPr>
          <p:cNvSpPr>
            <a:spLocks noGrp="1"/>
          </p:cNvSpPr>
          <p:nvPr/>
        </p:nvSpPr>
        <p:spPr>
          <a:xfrm>
            <a:off x="6381750" y="3981450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5AD2E6"/>
                </a:solidFill>
                <a:latin typeface="Arial"/>
                <a:ea typeface="Arial"/>
                <a:cs typeface="Arial"/>
              </a:defRPr>
            </a:pPr>
            <a:r>
              <a:t>S7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31B749-5F7C-4D90-AAE1-72A4C46059B0}"/>
              </a:ext>
            </a:extLst>
          </p:cNvPr>
          <p:cNvSpPr>
            <a:spLocks noGrp="1"/>
          </p:cNvSpPr>
          <p:nvPr/>
        </p:nvSpPr>
        <p:spPr>
          <a:xfrm>
            <a:off x="6943725" y="3933825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WSJ: Allstate AI-generated claimant communications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6426B6-D572-4B5C-AD57-15A1A018CB4A}"/>
              </a:ext>
            </a:extLst>
          </p:cNvPr>
          <p:cNvSpPr>
            <a:spLocks noGrp="1"/>
          </p:cNvSpPr>
          <p:nvPr/>
        </p:nvSpPr>
        <p:spPr>
          <a:xfrm>
            <a:off x="6943725" y="4257675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wsj.com/articles/turns-out-ai-is-more-empathetic-than-allstates-insurance-reps-cf5f7c98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0AEA9DD-BF92-4086-A1C5-D87B17A6A2B8}"/>
              </a:ext>
            </a:extLst>
          </p:cNvPr>
          <p:cNvSpPr>
            <a:spLocks noGrp="1"/>
          </p:cNvSpPr>
          <p:nvPr/>
        </p:nvSpPr>
        <p:spPr>
          <a:xfrm>
            <a:off x="6229350" y="4857750"/>
            <a:ext cx="5429250" cy="838200"/>
          </a:xfrm>
          <a:prstGeom prst="roundRect">
            <a:avLst>
              <a:gd name="adj" fmla="val 9091"/>
            </a:avLst>
          </a:prstGeom>
          <a:solidFill>
            <a:srgbClr val="19243A"/>
          </a:solidFill>
          <a:ln w="9525">
            <a:solidFill>
              <a:srgbClr val="394761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C4BDA54-6AFF-4458-B260-A0402004AED8}"/>
              </a:ext>
            </a:extLst>
          </p:cNvPr>
          <p:cNvSpPr>
            <a:spLocks noGrp="1"/>
          </p:cNvSpPr>
          <p:nvPr/>
        </p:nvSpPr>
        <p:spPr>
          <a:xfrm>
            <a:off x="6381750" y="4981575"/>
            <a:ext cx="523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975" b="1">
                <a:solidFill>
                  <a:srgbClr val="C8F56A"/>
                </a:solidFill>
                <a:latin typeface="Arial"/>
                <a:ea typeface="Arial"/>
                <a:cs typeface="Arial"/>
              </a:defRPr>
            </a:pPr>
            <a:r>
              <a:t>P1-P2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2C55C66-5B3A-4A76-B5A7-8E2FA3171F2E}"/>
              </a:ext>
            </a:extLst>
          </p:cNvPr>
          <p:cNvSpPr>
            <a:spLocks noGrp="1"/>
          </p:cNvSpPr>
          <p:nvPr/>
        </p:nvSpPr>
        <p:spPr>
          <a:xfrm>
            <a:off x="6943725" y="4933950"/>
            <a:ext cx="447675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200" b="1">
                <a:solidFill>
                  <a:srgbClr val="F7F3EA"/>
                </a:solidFill>
                <a:latin typeface="Arial"/>
                <a:ea typeface="Arial"/>
                <a:cs typeface="Arial"/>
              </a:defRPr>
            </a:pPr>
            <a:r>
              <a:t>Local project reports generated June 10, 2026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E29629-0C4E-4B16-87F4-5F4BBF3B2936}"/>
              </a:ext>
            </a:extLst>
          </p:cNvPr>
          <p:cNvSpPr>
            <a:spLocks noGrp="1"/>
          </p:cNvSpPr>
          <p:nvPr/>
        </p:nvSpPr>
        <p:spPr>
          <a:xfrm>
            <a:off x="6943725" y="5257800"/>
            <a:ext cx="447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750" b="0">
                <a:solidFill>
                  <a:srgbClr val="8D97A8"/>
                </a:solidFill>
                <a:latin typeface="Arial"/>
                <a:ea typeface="Arial"/>
                <a:cs typeface="Arial"/>
              </a:defRPr>
            </a:pPr>
            <a:r>
              <a:t>logs/reports/task3_tracking_report.json; task7_final_evaluation.json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7CD97C-B9F6-46CD-9D1F-6041891310C9}"/>
              </a:ext>
            </a:extLst>
          </p:cNvPr>
          <p:cNvSpPr>
            <a:spLocks noGrp="1"/>
          </p:cNvSpPr>
          <p:nvPr/>
        </p:nvSpPr>
        <p:spPr>
          <a:xfrm>
            <a:off x="495300" y="6038850"/>
            <a:ext cx="1066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lstStyle/>
          <a:p>
            <a:pPr algn="l">
              <a:defRPr sz="1050" b="1">
                <a:solidFill>
                  <a:srgbClr val="FF675C"/>
                </a:solidFill>
                <a:latin typeface="Arial"/>
                <a:ea typeface="Arial"/>
                <a:cs typeface="Arial"/>
              </a:defRPr>
            </a:pPr>
            <a:r>
              <a:t>Note: S4 is an anonymous consultant claim reported by media, not a verified company disclosure.</a:t>
            </a:r>
          </a:p>
        </p:txBody>
      </p:sp>
    </p:spTree>
    <p:extLst>
      <p:ext uri="{BB962C8B-B14F-4D97-AF65-F5344CB8AC3E}">
        <p14:creationId xmlns:p14="http://schemas.microsoft.com/office/powerpoint/2010/main" val="20033280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961</Words>
  <Application>Microsoft Office PowerPoint</Application>
  <DocSecurity>0</DocSecurity>
  <PresentationFormat>Widescreen</PresentationFormat>
  <Paragraphs>257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Aadesh Shrivastava</cp:lastModifiedBy>
  <cp:revision>3</cp:revision>
  <dcterms:created xsi:type="dcterms:W3CDTF">2026-06-15T19:30:01Z</dcterms:created>
  <dcterms:modified xsi:type="dcterms:W3CDTF">2026-06-15T20:14:15Z</dcterms:modified>
</cp:coreProperties>
</file>