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e74bb7885a4c9f" /><Relationship Type="http://schemas.openxmlformats.org/officeDocument/2006/relationships/extended-properties" Target="/docProps/app.xml" Id="R6cf5e41f5ce44761" /><Relationship Type="http://schemas.openxmlformats.org/officeDocument/2006/relationships/officeDocument" Target="/ppt/presentation.xml" Id="R20fde06d53a646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81d536011d042b4"/>
  </p:sldMasterIdLst>
  <p:notesMasterIdLst>
    <p:notesMasterId xmlns:r="http://schemas.openxmlformats.org/officeDocument/2006/relationships" r:id="R367a6c1843104e0c"/>
  </p:notesMasterIdLst>
  <p:sldIdLst>
    <p:sldId xmlns:r="http://schemas.openxmlformats.org/officeDocument/2006/relationships" id="256" r:id="R55137f06cdd8493c"/>
    <p:sldId xmlns:r="http://schemas.openxmlformats.org/officeDocument/2006/relationships" id="257" r:id="R03570ede0f9a43ea"/>
    <p:sldId xmlns:r="http://schemas.openxmlformats.org/officeDocument/2006/relationships" id="258" r:id="R8e75d4674d4a4145"/>
    <p:sldId xmlns:r="http://schemas.openxmlformats.org/officeDocument/2006/relationships" id="259" r:id="R7f3faa68abc642f3"/>
    <p:sldId xmlns:r="http://schemas.openxmlformats.org/officeDocument/2006/relationships" id="260" r:id="R8b2649b3ff8945f9"/>
    <p:sldId xmlns:r="http://schemas.openxmlformats.org/officeDocument/2006/relationships" id="261" r:id="R158911da316240d3"/>
    <p:sldId xmlns:r="http://schemas.openxmlformats.org/officeDocument/2006/relationships" id="262" r:id="R2a7d05791a69420f"/>
    <p:sldId xmlns:r="http://schemas.openxmlformats.org/officeDocument/2006/relationships" id="263" r:id="R0169f321ff754d0f"/>
    <p:sldId xmlns:r="http://schemas.openxmlformats.org/officeDocument/2006/relationships" id="264" r:id="R70eb99edc2cf408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ff4af9e461463a" /><Relationship Type="http://schemas.openxmlformats.org/officeDocument/2006/relationships/slideMaster" Target="/ppt/slideMasters/slideMaster1.xml" Id="R581d536011d042b4" /><Relationship Type="http://schemas.openxmlformats.org/officeDocument/2006/relationships/notesMaster" Target="/ppt/notesMasters/notesMaster1.xml" Id="R367a6c1843104e0c" /><Relationship Type="http://schemas.openxmlformats.org/officeDocument/2006/relationships/presProps" Target="/ppt/presProps.xml" Id="R5a99c070605f4f22" /><Relationship Type="http://schemas.openxmlformats.org/officeDocument/2006/relationships/viewProps" Target="/ppt/viewProps.xml" Id="R424e30ea87ed40c4" /><Relationship Type="http://schemas.openxmlformats.org/officeDocument/2006/relationships/tableStyles" Target="/ppt/tableStyles.xml" Id="Ra204927881b44e90" /><Relationship Type="http://schemas.openxmlformats.org/officeDocument/2006/relationships/slide" Target="/ppt/slides/slide1.xml" Id="R55137f06cdd8493c" /><Relationship Type="http://schemas.openxmlformats.org/officeDocument/2006/relationships/slide" Target="/ppt/slides/slide2.xml" Id="R03570ede0f9a43ea" /><Relationship Type="http://schemas.openxmlformats.org/officeDocument/2006/relationships/slide" Target="/ppt/slides/slide3.xml" Id="R8e75d4674d4a4145" /><Relationship Type="http://schemas.openxmlformats.org/officeDocument/2006/relationships/slide" Target="/ppt/slides/slide4.xml" Id="R7f3faa68abc642f3" /><Relationship Type="http://schemas.openxmlformats.org/officeDocument/2006/relationships/slide" Target="/ppt/slides/slide5.xml" Id="R8b2649b3ff8945f9" /><Relationship Type="http://schemas.openxmlformats.org/officeDocument/2006/relationships/slide" Target="/ppt/slides/slide6.xml" Id="R158911da316240d3" /><Relationship Type="http://schemas.openxmlformats.org/officeDocument/2006/relationships/slide" Target="/ppt/slides/slide7.xml" Id="R2a7d05791a69420f" /><Relationship Type="http://schemas.openxmlformats.org/officeDocument/2006/relationships/slide" Target="/ppt/slides/slide8.xml" Id="R0169f321ff754d0f" /><Relationship Type="http://schemas.openxmlformats.org/officeDocument/2006/relationships/slide" Target="/ppt/slides/slide9.xml" Id="R70eb99edc2cf40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a442a850264f6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ba9e1cb57fa450c" /><Relationship Type="http://schemas.openxmlformats.org/officeDocument/2006/relationships/notesMaster" Target="/ppt/notesMasters/notesMaster1.xml" Id="Rec05c35b8ee9464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6115ed525d4633" /><Relationship Type="http://schemas.openxmlformats.org/officeDocument/2006/relationships/notesMaster" Target="/ppt/notesMasters/notesMaster1.xml" Id="R2d2a984e96be44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58acd856ded40c8" /><Relationship Type="http://schemas.openxmlformats.org/officeDocument/2006/relationships/notesMaster" Target="/ppt/notesMasters/notesMaster1.xml" Id="Ra7f75d7112fd413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40cbb7de1940b6" /><Relationship Type="http://schemas.openxmlformats.org/officeDocument/2006/relationships/notesMaster" Target="/ppt/notesMasters/notesMaster1.xml" Id="Rfcc33fc1163541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97ab3cbd6fe41a6" /><Relationship Type="http://schemas.openxmlformats.org/officeDocument/2006/relationships/notesMaster" Target="/ppt/notesMasters/notesMaster1.xml" Id="Rea54b58f0d0d439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78229d75e642ac" /><Relationship Type="http://schemas.openxmlformats.org/officeDocument/2006/relationships/notesMaster" Target="/ppt/notesMasters/notesMaster1.xml" Id="Ra1dd502b7a704d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3141f4884d4e58" /><Relationship Type="http://schemas.openxmlformats.org/officeDocument/2006/relationships/notesMaster" Target="/ppt/notesMasters/notesMaster1.xml" Id="Rb9bd37993fcd43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f0ecb2d27e4ba8" /><Relationship Type="http://schemas.openxmlformats.org/officeDocument/2006/relationships/notesMaster" Target="/ppt/notesMasters/notesMaster1.xml" Id="R23165c39642744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902f7a7b95456a" /><Relationship Type="http://schemas.openxmlformats.org/officeDocument/2006/relationships/notesMaster" Target="/ppt/notesMasters/notesMaster1.xml" Id="Rf9ef6507606548e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692ab1c09744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2d2f172fda4060" /><Relationship Type="http://schemas.openxmlformats.org/officeDocument/2006/relationships/slideLayout" Target="/ppt/slideLayouts/slideLayout1.xml" Id="R6303bffdb1ff46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03bffdb1ff46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080c410a03433d" /><Relationship Type="http://schemas.openxmlformats.org/officeDocument/2006/relationships/notesSlide" Target="/ppt/notesSlides/notesSlide1.xml" Id="Rd40de51f591549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7524e904a94053" /><Relationship Type="http://schemas.openxmlformats.org/officeDocument/2006/relationships/notesSlide" Target="/ppt/notesSlides/notesSlide2.xml" Id="Rc0d40eb9469940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8826661d864e25" /><Relationship Type="http://schemas.openxmlformats.org/officeDocument/2006/relationships/notesSlide" Target="/ppt/notesSlides/notesSlide3.xml" Id="Re05a4c72626a4f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da252329134dfd" /><Relationship Type="http://schemas.openxmlformats.org/officeDocument/2006/relationships/notesSlide" Target="/ppt/notesSlides/notesSlide4.xml" Id="Rae4f759e9ff4479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91252dab8e424e" /><Relationship Type="http://schemas.openxmlformats.org/officeDocument/2006/relationships/notesSlide" Target="/ppt/notesSlides/notesSlide5.xml" Id="R4be2ce88db5e48d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47a29e63154606" /><Relationship Type="http://schemas.openxmlformats.org/officeDocument/2006/relationships/notesSlide" Target="/ppt/notesSlides/notesSlide6.xml" Id="R7815f4286c8b4bc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3ecb0687d4f8a" /><Relationship Type="http://schemas.openxmlformats.org/officeDocument/2006/relationships/notesSlide" Target="/ppt/notesSlides/notesSlide7.xml" Id="R76e0bcacbfd2489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446cceb314aa8" /><Relationship Type="http://schemas.openxmlformats.org/officeDocument/2006/relationships/notesSlide" Target="/ppt/notesSlides/notesSlide8.xml" Id="Rd286b188110749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18d3b775143fc" /><Relationship Type="http://schemas.openxmlformats.org/officeDocument/2006/relationships/notesSlide" Target="/ppt/notesSlides/notesSlide9.xml" Id="R9304404710484d5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18B7B6-D238-48A1-94FE-10F77951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75CB85-92FD-4961-92F9-7282F7908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4095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F36B"/>
                </a:solidFill>
                <a:latin typeface="Arial"/>
                <a:ea typeface="Arial"/>
                <a:cs typeface="Arial"/>
              </a:defRPr>
            </a:pPr>
            <a:r>
              <a:t>LLM MONITORING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D683A6-E2A4-462A-AD9D-6A69C9025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7524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8F5EE"/>
                </a:solidFill>
                <a:latin typeface="Arial Black"/>
                <a:ea typeface="Arial Black"/>
                <a:cs typeface="Arial Black"/>
              </a:defRPr>
            </a:pPr>
            <a:r>
              <a:t>Your AI is in production.</a:t>
            </a:r>
          </a:p>
          <a:p xmlns:a="http://schemas.openxmlformats.org/drawingml/2006/main">
            <a:pPr algn="l">
              <a:defRPr sz="3900" b="1">
                <a:solidFill>
                  <a:srgbClr val="F8F5EE"/>
                </a:solidFill>
                <a:latin typeface="Arial Black"/>
                <a:ea typeface="Arial Black"/>
                <a:cs typeface="Arial Black"/>
              </a:defRPr>
            </a:pPr>
            <a:r>
              <a:t>Your visibility should not be in beta.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C8581-D88F-4B85-B165-AD32E718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6667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A business-facing guide to quality, cost, reliability, and enterprise confidence.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F0CB8-4AAC-4777-8964-4B6AE834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85800"/>
            <a:ext cx="2952750" cy="4476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18233A"/>
          </a:solidFill>
          <a:ln xmlns:a="http://schemas.openxmlformats.org/drawingml/2006/main" w="19050">
            <a:solidFill>
              <a:srgbClr val="31415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1DC80-81D1-4120-A77F-18D60990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16205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9525">
            <a:solidFill>
              <a:srgbClr val="FF6B5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B0CC9-8876-41E7-B822-D9CBC013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8825" y="15716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97AC2-54AD-4255-81D7-4A52013C8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076450"/>
            <a:ext cx="381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CDC3D-16F9-4728-BD47-B619F0BF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5425" y="2552700"/>
            <a:ext cx="1571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8EF5AC-82D4-4501-98CD-F66A55CD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638550"/>
            <a:ext cx="23241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t>PRODUCTION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40EC5B-DC39-4DFB-87A0-C467FAF0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943350"/>
            <a:ext cx="2324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F8F5EE"/>
                </a:solidFill>
                <a:latin typeface="Arial Black"/>
                <a:ea typeface="Arial Black"/>
                <a:cs typeface="Arial Black"/>
              </a:defRPr>
            </a:pPr>
            <a:r>
              <a:t>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D3D855-EAEB-430B-9C0E-8637E003C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334000"/>
            <a:ext cx="3619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Meanwhile, monitoring: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AA06E0-7216-4584-9F10-437B7EA1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65785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C7F36B"/>
                </a:solidFill>
                <a:latin typeface="Arial"/>
                <a:ea typeface="Arial"/>
                <a:cs typeface="Arial"/>
              </a:defRPr>
            </a:pPr>
            <a:r>
              <a:t>“We have logs... somewhere.”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BE3326-7B25-497D-9B37-0087F2D7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Business summary | LLM monitoring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614213-1CAE-4B44-84FC-0453522A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663778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AE19EA-54E2-408F-8002-4BC11D4E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F8F5EE"/>
            </a:solidFill>
          </a:ln>
        </p:spPr>
      </p:sp>
      <p:sp>
        <p:nvSpPr>
          <p:cNvPr id="2" name="kicker-2-marker">
            <a:extLst xmlns:a="http://schemas.openxmlformats.org/drawingml/2006/main">
              <a:ext uri="{FF2B5EF4-FFF2-40B4-BE49-F238E27FC236}">
                <a16:creationId xmlns:a16="http://schemas.microsoft.com/office/drawing/2014/main" id="{C03A6F0B-C61A-4C85-A6DB-9DF24892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36B"/>
          </a:solidFill>
          <a:ln xmlns:a="http://schemas.openxmlformats.org/drawingml/2006/main" w="9525">
            <a:solidFill>
              <a:srgbClr val="C7F36B"/>
            </a:solidFill>
          </a:ln>
        </p:spPr>
      </p:sp>
      <p:sp>
        <p:nvSpPr>
          <p:cNvPr id="3" name="kicker-2-label">
            <a:extLst xmlns:a="http://schemas.openxmlformats.org/drawingml/2006/main">
              <a:ext uri="{FF2B5EF4-FFF2-40B4-BE49-F238E27FC236}">
                <a16:creationId xmlns:a16="http://schemas.microsoft.com/office/drawing/2014/main" id="{EE51074D-AD99-47C8-8CA3-5A8688AA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WHY IT MATTERS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8B1130-E52F-461B-AE7F-DC14CF5A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144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11827"/>
                </a:solidFill>
                <a:latin typeface="Arial Black"/>
                <a:ea typeface="Arial Black"/>
                <a:cs typeface="Arial Black"/>
              </a:defRPr>
            </a:pPr>
            <a:r>
              <a:t>The polished demo is only the tip of the iceberg.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9FE617-117F-46F3-AD93-C708C21F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686050"/>
            <a:ext cx="11201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D7E8"/>
          </a:solidFill>
          <a:ln xmlns:a="http://schemas.openxmlformats.org/drawingml/2006/main" w="0">
            <a:solidFill>
              <a:srgbClr val="5ED7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081C89-249B-4144-9F48-3055A46B5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87C8A"/>
                </a:solidFill>
                <a:latin typeface="Arial"/>
                <a:ea typeface="Arial"/>
                <a:cs typeface="Arial"/>
              </a:defRPr>
            </a:pPr>
            <a:r>
              <a:t>ABOVE WATER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A0B9F-655A-48F1-A789-3559289F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1714500"/>
            <a:ext cx="3333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82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6DE501-534D-49E8-8A85-5E403E2F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809750"/>
            <a:ext cx="27622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Helpful answers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Fast response</a:t>
            </a:r>
          </a:p>
          <a:p xmlns:a="http://schemas.openxmlformats.org/drawingml/2006/main">
            <a:pPr algn="ctr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Happy pilot users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4DEE57-00BE-4370-808C-CCB3C88F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47625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33A"/>
          </a:solidFill>
          <a:ln xmlns:a="http://schemas.openxmlformats.org/drawingml/2006/main" w="0">
            <a:solidFill>
              <a:srgbClr val="18233A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FB3621-89D8-4D15-B1E9-1EB19589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05125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F36B"/>
                </a:solidFill>
                <a:latin typeface="Arial"/>
                <a:ea typeface="Arial"/>
                <a:cs typeface="Arial"/>
              </a:defRPr>
            </a:pPr>
            <a:r>
              <a:t>Hallucinations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4747BD-9991-44B9-BC92-0DD9115D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905125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Customers act on confident errors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A5D726-6AC4-4E46-B425-9C20D220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37185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761"/>
          </a:solidFill>
          <a:ln xmlns:a="http://schemas.openxmlformats.org/drawingml/2006/main" w="0">
            <a:solidFill>
              <a:srgbClr val="39476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5CD95-A26E-4FE4-B693-2EB25E2C6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861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F36B"/>
                </a:solidFill>
                <a:latin typeface="Arial"/>
                <a:ea typeface="Arial"/>
                <a:cs typeface="Arial"/>
              </a:defRPr>
            </a:pPr>
            <a:r>
              <a:t>Cost creep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686420-9EF5-463D-A0ED-27DDDDAA3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86150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Long prompts + retries multiply spend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F3B557-22F6-4FA6-B490-6590A7B0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52875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761"/>
          </a:solidFill>
          <a:ln xmlns:a="http://schemas.openxmlformats.org/drawingml/2006/main" w="0">
            <a:solidFill>
              <a:srgbClr val="39476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7FCA71-7870-4380-84A3-C42A51D3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67175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F36B"/>
                </a:solidFill>
                <a:latin typeface="Arial"/>
                <a:ea typeface="Arial"/>
                <a:cs typeface="Arial"/>
              </a:defRPr>
            </a:pPr>
            <a:r>
              <a:t>Data leakage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518C3E-23DD-460F-ADCD-FE4351D9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067175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Sensitive context enters the wrong flow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0EE4C1-B3D8-49C0-8EED-0FDD271F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33900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761"/>
          </a:solidFill>
          <a:ln xmlns:a="http://schemas.openxmlformats.org/drawingml/2006/main" w="0">
            <a:solidFill>
              <a:srgbClr val="394761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A409A4-5D3B-4DE3-9A94-B69A418E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F36B"/>
                </a:solidFill>
                <a:latin typeface="Arial"/>
                <a:ea typeface="Arial"/>
                <a:cs typeface="Arial"/>
              </a:defRPr>
            </a:pPr>
            <a:r>
              <a:t>Model drift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2E93B4-1B78-4174-8851-19281BB9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48200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Quality changes after model or data updates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D8460B-4CEB-44C7-9E75-E2EB3666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14925"/>
            <a:ext cx="4095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761"/>
          </a:solidFill>
          <a:ln xmlns:a="http://schemas.openxmlformats.org/drawingml/2006/main" w="0">
            <a:solidFill>
              <a:srgbClr val="394761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048290-B526-4BEE-80A7-818A318E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29225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C7F36B"/>
                </a:solidFill>
                <a:latin typeface="Arial"/>
                <a:ea typeface="Arial"/>
                <a:cs typeface="Arial"/>
              </a:defRPr>
            </a:pPr>
            <a:r>
              <a:t>Tool failures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FB8251-A6C6-41CA-8B74-2F8268209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29225"/>
            <a:ext cx="2428875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One broken dependency ruins the answer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F2F3F6-BF31-423C-B8EB-3897D225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4476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“The chatbot looked fine in the demo.”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099BC6-1DE2-4287-BE4F-F483F162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95600"/>
            <a:ext cx="40957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F14568-C7A2-46C2-8DD2-E652E2D9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24200"/>
            <a:ext cx="3429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t>Then production</a:t>
            </a:r>
          </a:p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rial Black"/>
                <a:ea typeface="Arial Black"/>
                <a:cs typeface="Arial Black"/>
              </a:defRPr>
            </a:pPr>
            <a:r>
              <a:t>met reality.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F810AE-3485-4F52-9F6C-DA719E77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43450"/>
            <a:ext cx="4476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Monitoring exposes hidden behavior before it becomes a customer, compliance, or budget incident.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CDCE1B-CE50-49A1-A491-573D71A3B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Illustrative business examples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947760-D55B-4404-8268-DBA3AB08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0500994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580F91-8DCC-4167-8539-57349FC04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</p:sp>
      <p:sp>
        <p:nvSpPr>
          <p:cNvPr id="2" name="kicker-3-marker">
            <a:extLst xmlns:a="http://schemas.openxmlformats.org/drawingml/2006/main">
              <a:ext uri="{FF2B5EF4-FFF2-40B4-BE49-F238E27FC236}">
                <a16:creationId xmlns:a16="http://schemas.microsoft.com/office/drawing/2014/main" id="{3242ADCB-B6EC-4F65-928A-78E90CA3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36B"/>
          </a:solidFill>
          <a:ln xmlns:a="http://schemas.openxmlformats.org/drawingml/2006/main" w="9525">
            <a:solidFill>
              <a:srgbClr val="C7F36B"/>
            </a:solidFill>
          </a:ln>
        </p:spPr>
      </p:sp>
      <p:sp>
        <p:nvSpPr>
          <p:cNvPr id="3" name="kicker-3-label">
            <a:extLst xmlns:a="http://schemas.openxmlformats.org/drawingml/2006/main">
              <a:ext uri="{FF2B5EF4-FFF2-40B4-BE49-F238E27FC236}">
                <a16:creationId xmlns:a16="http://schemas.microsoft.com/office/drawing/2014/main" id="{5D6CAF4E-8FD4-41F0-80C3-71E311D63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OBSERVABILITY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F1A6DB-ED40-4C85-BF64-6DC7D6EE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144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5EE"/>
                </a:solidFill>
                <a:latin typeface="Arial Black"/>
                <a:ea typeface="Arial Black"/>
                <a:cs typeface="Arial Black"/>
              </a:defRPr>
            </a:pPr>
            <a:r>
              <a:t>A final answer is not a diagnosis. The trace 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8069F9-A82F-460D-88DB-6283B4A10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D7E8"/>
                </a:solidFill>
                <a:latin typeface="Arial"/>
                <a:ea typeface="Arial"/>
                <a:cs typeface="Arial"/>
              </a:defRPr>
            </a:pPr>
            <a:r>
              <a:t>EXPECTATION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BDE20B-89FB-4C70-A856-327DF5B0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0"/>
            <a:ext cx="447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“One prompt goes in. One answer comes out.”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4A90E0-F33A-468F-B1A2-A8A57C5DA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86125"/>
            <a:ext cx="3238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D7E8"/>
          </a:solidFill>
          <a:ln xmlns:a="http://schemas.openxmlformats.org/drawingml/2006/main" w="0">
            <a:solidFill>
              <a:srgbClr val="5ED7E8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85F3DE-CB58-47E7-8EFD-090A05D1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343400" y="3209925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5ED7E8"/>
          </a:solidFill>
          <a:ln xmlns:a="http://schemas.openxmlformats.org/drawingml/2006/main" w="0">
            <a:solidFill>
              <a:srgbClr val="5ED7E8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D49D8B-532B-439E-83D7-391B79FD9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D7E8"/>
          </a:solidFill>
          <a:ln xmlns:a="http://schemas.openxmlformats.org/drawingml/2006/main" w="9525">
            <a:solidFill>
              <a:srgbClr val="5ED7E8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67F484-BCD7-442E-B374-670E950C6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289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625DFA-DE69-4C02-BB03-65DCCD77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36B"/>
          </a:solidFill>
          <a:ln xmlns:a="http://schemas.openxmlformats.org/drawingml/2006/main" w="9525">
            <a:solidFill>
              <a:srgbClr val="C7F36B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B97C3-D5D1-4672-9C85-465239E9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289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✓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C7BA4-3DC7-4B49-841E-E24F321E4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790700"/>
            <a:ext cx="19050" cy="394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8"/>
          </a:solidFill>
          <a:ln xmlns:a="http://schemas.openxmlformats.org/drawingml/2006/main" w="0">
            <a:solidFill>
              <a:srgbClr val="344158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1077FD-1C35-4AD7-A8E3-D6652AB49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52625"/>
            <a:ext cx="2000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t>REALITY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58632E-62D3-4E20-BBDD-67541465E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86000"/>
            <a:ext cx="476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One request is a chain of decisions.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C70D8-536A-4012-A60B-1710D68B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43250"/>
            <a:ext cx="933450" cy="11239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8233A"/>
          </a:solidFill>
          <a:ln xmlns:a="http://schemas.openxmlformats.org/drawingml/2006/main" w="19050">
            <a:solidFill>
              <a:srgbClr val="41506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56D99-8CC4-40EE-8DF6-23F44EE9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27660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D7E8"/>
                </a:solidFill>
                <a:latin typeface="Arial"/>
                <a:ea typeface="Arial"/>
                <a:cs typeface="Arial"/>
              </a:defRPr>
            </a:pPr>
            <a:r>
              <a:t>PROMPT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F6884C-3588-4728-8B64-408E7F97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3600450"/>
            <a:ext cx="781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tokens + intent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FE215F-3441-42DD-BD7E-DB631F0A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6861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BDBE20-AC79-4ACD-AD3A-C22495353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72325" y="3609975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A712EC-45DC-44AC-8B8A-A8E59316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143250"/>
            <a:ext cx="933450" cy="11239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8233A"/>
          </a:solidFill>
          <a:ln xmlns:a="http://schemas.openxmlformats.org/drawingml/2006/main" w="19050">
            <a:solidFill>
              <a:srgbClr val="41506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29AB28-3325-42D6-81DA-1C2AA8FE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27660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D7E8"/>
                </a:solidFill>
                <a:latin typeface="Arial"/>
                <a:ea typeface="Arial"/>
                <a:cs typeface="Arial"/>
              </a:defRPr>
            </a:pPr>
            <a:r>
              <a:t>RETRIEVAL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58CE4A-6E48-4A78-B964-B6607063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600450"/>
            <a:ext cx="781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sources + relevance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819526-E9DC-4C2D-98D7-9569D1E05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6861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6B75D8-E065-4F08-B03E-A6DD7451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39125" y="3609975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F247FF-7AE5-45E5-9D31-C217469F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3143250"/>
            <a:ext cx="933450" cy="11239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8233A"/>
          </a:solidFill>
          <a:ln xmlns:a="http://schemas.openxmlformats.org/drawingml/2006/main" w="19050">
            <a:solidFill>
              <a:srgbClr val="4150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0D5C0D-9682-46C3-AC06-7CD22C434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27660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D7E8"/>
                </a:solidFill>
                <a:latin typeface="Arial"/>
                <a:ea typeface="Arial"/>
                <a:cs typeface="Arial"/>
              </a:defRPr>
            </a:pPr>
            <a:r>
              <a:t>MODEL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1C4C18-6937-43D7-8C28-DFCA59FE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3600450"/>
            <a:ext cx="781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version + latency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19CE28-49F5-4751-B474-9BF7AE90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36861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8A2F43-523F-4A8E-AFC1-5C4667C28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305925" y="3609975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5B61BD-50F1-4FB5-959E-2C99E700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4025" y="3143250"/>
            <a:ext cx="933450" cy="11239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18233A"/>
          </a:solidFill>
          <a:ln xmlns:a="http://schemas.openxmlformats.org/drawingml/2006/main" w="19050">
            <a:solidFill>
              <a:srgbClr val="41506B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6B8162-6F53-4718-919C-37500EC9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27660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ED7E8"/>
                </a:solidFill>
                <a:latin typeface="Arial"/>
                <a:ea typeface="Arial"/>
                <a:cs typeface="Arial"/>
              </a:defRPr>
            </a:pPr>
            <a:r>
              <a:t>TOOLS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392453-F3C1-410C-928D-5D2CBC593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3600450"/>
            <a:ext cx="781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calls + errors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44776CD-6F0A-4C48-934B-B5C41E68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7475" y="3686175"/>
            <a:ext cx="133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86CD1E-DF73-4CE8-ACC7-73F3B30C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372725" y="3609975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E00B752-9EC6-4512-924C-134DF5FD2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3143250"/>
            <a:ext cx="933450" cy="1123950"/>
          </a:xfrm>
          <a:prstGeom xmlns:a="http://schemas.openxmlformats.org/drawingml/2006/main" prst="roundRect">
            <a:avLst>
              <a:gd name="adj" fmla="val 8163"/>
            </a:avLst>
          </a:prstGeom>
          <a:solidFill xmlns:a="http://schemas.openxmlformats.org/drawingml/2006/main">
            <a:srgbClr val="C7F36B"/>
          </a:solidFill>
          <a:ln xmlns:a="http://schemas.openxmlformats.org/drawingml/2006/main" w="19050">
            <a:solidFill>
              <a:srgbClr val="C7F36B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753C043-0867-4BFB-83ED-31CE84741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3276600"/>
            <a:ext cx="7810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OUTPUT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A5821D-62F3-49F7-BA45-D83ECBBB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3600450"/>
            <a:ext cx="7810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quality + safety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2A6FBEA-33D0-4C67-AFE9-D9D5D66DC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48200"/>
            <a:ext cx="4857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F36B"/>
                </a:solidFill>
                <a:latin typeface="Arial"/>
                <a:ea typeface="Arial"/>
                <a:cs typeface="Arial"/>
              </a:defRPr>
            </a:pPr>
            <a:r>
              <a:t>A trace answers: what changed, where it changed, and who felt it.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006BD17-2383-4648-ADDB-715AB95D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Illustrative business examples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E69E06-7D27-490A-9BD7-2715C423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2045480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25EA53-B85E-4871-8485-0C0F71D1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F8F5EE"/>
            </a:solidFill>
          </a:ln>
        </p:spPr>
      </p:sp>
      <p:sp>
        <p:nvSpPr>
          <p:cNvPr id="2" name="kicker-4-marker">
            <a:extLst xmlns:a="http://schemas.openxmlformats.org/drawingml/2006/main">
              <a:ext uri="{FF2B5EF4-FFF2-40B4-BE49-F238E27FC236}">
                <a16:creationId xmlns:a16="http://schemas.microsoft.com/office/drawing/2014/main" id="{B866A5A8-A60E-4B3D-B960-DD8090DD3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36B"/>
          </a:solidFill>
          <a:ln xmlns:a="http://schemas.openxmlformats.org/drawingml/2006/main" w="9525">
            <a:solidFill>
              <a:srgbClr val="C7F36B"/>
            </a:solidFill>
          </a:ln>
        </p:spPr>
      </p:sp>
      <p:sp>
        <p:nvSpPr>
          <p:cNvPr id="3" name="kicker-4-label">
            <a:extLst xmlns:a="http://schemas.openxmlformats.org/drawingml/2006/main">
              <a:ext uri="{FF2B5EF4-FFF2-40B4-BE49-F238E27FC236}">
                <a16:creationId xmlns:a16="http://schemas.microsoft.com/office/drawing/2014/main" id="{7DD8F555-BCA2-4F5F-9FE5-A8308A84C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EXAMPLE INSIGHTS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A81200-E312-43B6-8B53-C0E7B674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144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 Black"/>
                <a:ea typeface="Arial Black"/>
                <a:cs typeface="Arial Black"/>
              </a:defRPr>
            </a:pPr>
            <a:r>
              <a:t>Four signal families turn “AI feels weird” into a decision.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2C748-4835-43FC-B811-BE824B7F3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53816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D8DE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0F6308-D8F6-42E9-A2A9-FDD930DB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D7E8"/>
          </a:solidFill>
          <a:ln xmlns:a="http://schemas.openxmlformats.org/drawingml/2006/main" w="0">
            <a:solidFill>
              <a:srgbClr val="5ED7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19CF90-EBCD-4B84-BEEC-9833BE51A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717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D7E8"/>
                </a:solidFill>
                <a:latin typeface="Arial"/>
                <a:ea typeface="Arial"/>
                <a:cs typeface="Arial"/>
              </a:defRPr>
            </a:pPr>
            <a:r>
              <a:t>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C9CF0C-56CC-40B4-8C0D-69D6E133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466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Are answers useful and grounded?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84751-D838-4E7F-A470-6A17CCDB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33700"/>
            <a:ext cx="2714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Groundedness ↓ 8 pts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7F236F-98BF-4E27-ACC5-792BFF19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05175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ACTION → Inspect retrieval freshness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49E99-55D0-4784-8527-65C26D24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00250"/>
            <a:ext cx="53816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D8D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C1AD25-F889-4F86-A732-E717BF1ED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0025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BEAB9-E60B-41B6-966D-E2DFC9DEB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1717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t>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C7F458-4C4F-45F7-A233-E861D945C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476500"/>
            <a:ext cx="466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Is the system behaving safely?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0C6CF0-027F-480A-91E2-F302BD2C7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933700"/>
            <a:ext cx="2714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PII flags ↑ in one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3AE46A-CD99-4D4E-94E8-C628470A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3305175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ACTION → Block + review the route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4F1FD5-5487-41A8-B948-A4F7E175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53816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D8D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45F119-6D33-4EAF-85D7-4C66624C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36B"/>
          </a:solidFill>
          <a:ln xmlns:a="http://schemas.openxmlformats.org/drawingml/2006/main" w="0">
            <a:solidFill>
              <a:srgbClr val="C7F36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34D683-AE71-4B35-9A80-0786FEDA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F36B"/>
                </a:solidFill>
                <a:latin typeface="Arial"/>
                <a:ea typeface="Arial"/>
                <a:cs typeface="Arial"/>
              </a:defRPr>
            </a:pPr>
            <a:r>
              <a:t>COST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340305-5909-44E4-AD52-E58FCBCD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466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Where are tokens and retries wasted?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0FBF4B-3481-43CE-9533-A55D4FCBA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33950"/>
            <a:ext cx="2714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18% spend from retry loops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B29D2F-6835-4B64-B0A3-85CEB37EB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05425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ACTION → Fix timeout + prompt size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509BF6C-4A74-40D6-B514-F2C41963D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00500"/>
            <a:ext cx="5381625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D8D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DC1BC4-7958-45B5-A4B8-6DB1D549F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000500"/>
            <a:ext cx="114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AFB"/>
          </a:solidFill>
          <a:ln xmlns:a="http://schemas.openxmlformats.org/drawingml/2006/main" w="0">
            <a:solidFill>
              <a:srgbClr val="9B8AF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5DAEB7-34F1-4ED6-88A9-ADEE9DF0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1719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RELIABILITY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426A48-9C17-44D6-83CE-5362726A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476750"/>
            <a:ext cx="4667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Which dependency breaks the journey?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EC505B-14C6-4510-97EA-CCDCDBDD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933950"/>
            <a:ext cx="27146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Tool latency drives 62% of tail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E520DEF-F798-44FA-A9CB-E75F613BE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5305425"/>
            <a:ext cx="4572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ACTION → Add fallback + SLO alert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A872AC-5EB7-44D4-91FD-69FFD92B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Illustrative signals and actions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96B2CCA-882E-45DC-B02C-105C6EA2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4366234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D9D204-CE33-4438-96EA-F5D2DD73A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</p:sp>
      <p:sp>
        <p:nvSpPr>
          <p:cNvPr id="2" name="kicker-5-marker">
            <a:extLst xmlns:a="http://schemas.openxmlformats.org/drawingml/2006/main">
              <a:ext uri="{FF2B5EF4-FFF2-40B4-BE49-F238E27FC236}">
                <a16:creationId xmlns:a16="http://schemas.microsoft.com/office/drawing/2014/main" id="{73A0AE2C-6336-4EFC-8EB2-03251ED5E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36B"/>
          </a:solidFill>
          <a:ln xmlns:a="http://schemas.openxmlformats.org/drawingml/2006/main" w="9525">
            <a:solidFill>
              <a:srgbClr val="C7F36B"/>
            </a:solidFill>
          </a:ln>
        </p:spPr>
      </p:sp>
      <p:sp>
        <p:nvSpPr>
          <p:cNvPr id="3" name="kicker-5-label">
            <a:extLst xmlns:a="http://schemas.openxmlformats.org/drawingml/2006/main">
              <a:ext uri="{FF2B5EF4-FFF2-40B4-BE49-F238E27FC236}">
                <a16:creationId xmlns:a16="http://schemas.microsoft.com/office/drawing/2014/main" id="{9BBA5844-40EA-46AE-848A-A4C87764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COST MANAGEMENT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E7968E-134D-4DA8-A525-58CDD7EB4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144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5EE"/>
                </a:solidFill>
                <a:latin typeface="Arial Black"/>
                <a:ea typeface="Arial Black"/>
                <a:cs typeface="Arial Black"/>
              </a:defRPr>
            </a:pPr>
            <a:r>
              <a:t>Cost monitoring finds waste before finance finds the invoice.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763547-26D8-4A95-B764-18DD0BBB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7642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t>THE TWO-BUTTON PROBLEM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D36A4C-A6BB-41DF-914F-354E15DFC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9525">
            <a:solidFill>
              <a:srgbClr val="F8F5E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E2B716-8AA5-49ED-B8C8-5B638BEF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952750"/>
            <a:ext cx="8763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CFO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69967-29C7-4FD9-B3A7-571CA54C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2333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78F8C-3CF8-4204-B526-14AB9488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529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Ship faster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BA5CF7-8626-49A7-B3C0-F3A00ADC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19600"/>
            <a:ext cx="209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Use more tokens?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DAF1A9-F6C2-40BE-95A0-5E996A3A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048125"/>
            <a:ext cx="23336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5ED7E8"/>
          </a:solidFill>
          <a:ln xmlns:a="http://schemas.openxmlformats.org/drawingml/2006/main" w="0">
            <a:solidFill>
              <a:srgbClr val="5ED7E8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F76A1E-0638-4845-9321-FC50E34F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15290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Control spend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828404-349A-4901-B16F-A067F76FB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4419600"/>
            <a:ext cx="2095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Cut quality?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599CD2-99F4-45B6-A964-A8D7702C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428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Monitoring creates a third button: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AA9D76-297E-4817-9A97-76591DBAC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4286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C7F36B"/>
                </a:solidFill>
                <a:latin typeface="Arial Black"/>
                <a:ea typeface="Arial Black"/>
                <a:cs typeface="Arial Black"/>
              </a:defRPr>
            </a:pPr>
            <a:r>
              <a:t>REMOVE WASTE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9953B1-144C-470F-8258-61D09F558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09750"/>
            <a:ext cx="1905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8"/>
          </a:solidFill>
          <a:ln xmlns:a="http://schemas.openxmlformats.org/drawingml/2006/main" w="0">
            <a:solidFill>
              <a:srgbClr val="344158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282EC-7C4D-4AA7-AEFD-8D80C659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76425"/>
            <a:ext cx="4953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ED7E8"/>
                </a:solidFill>
                <a:latin typeface="Arial"/>
                <a:ea typeface="Arial"/>
                <a:cs typeface="Arial"/>
              </a:defRPr>
            </a:pPr>
            <a:r>
              <a:t>ILLUSTRATIVE MONTHLY COST BRIDGE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590462-F8C0-4C09-A850-9B31D21FA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48000"/>
            <a:ext cx="7429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92240C-2147-4A16-A2ED-0565C03B0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t>$100k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AA4B35-0260-4094-8A82-A993D8A8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391150"/>
            <a:ext cx="89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F78013-C013-4F3B-B9FF-62840360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638675"/>
            <a:ext cx="7429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36B"/>
          </a:solidFill>
          <a:ln xmlns:a="http://schemas.openxmlformats.org/drawingml/2006/main" w="0">
            <a:solidFill>
              <a:srgbClr val="C7F36B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BA9950-EB6F-4212-A227-5D7ECB1E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14825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7F36B"/>
                </a:solidFill>
                <a:latin typeface="Arial"/>
                <a:ea typeface="Arial"/>
                <a:cs typeface="Arial"/>
              </a:defRPr>
            </a:pPr>
            <a:r>
              <a:t>−$14k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FC58F2-317F-452F-97F7-30961385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391150"/>
            <a:ext cx="89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Prompt</a:t>
            </a:r>
          </a:p>
          <a:p xmlns:a="http://schemas.openxmlformats.org/drawingml/2006/main">
            <a:pPr algn="ctr">
              <a:defRPr sz="975" b="0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compression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F33C11-5D4E-4739-BEA9-D2C72915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57750"/>
            <a:ext cx="7429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36B"/>
          </a:solidFill>
          <a:ln xmlns:a="http://schemas.openxmlformats.org/drawingml/2006/main" w="0">
            <a:solidFill>
              <a:srgbClr val="C7F36B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9C3ECC-F4B6-41FB-829A-44A7CA27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5339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7F36B"/>
                </a:solidFill>
                <a:latin typeface="Arial"/>
                <a:ea typeface="Arial"/>
                <a:cs typeface="Arial"/>
              </a:defRPr>
            </a:pPr>
            <a:r>
              <a:t>−$9k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4809E7-ED15-448F-AC7F-68A3B1283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91150"/>
            <a:ext cx="89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Retry</a:t>
            </a:r>
          </a:p>
          <a:p xmlns:a="http://schemas.openxmlformats.org/drawingml/2006/main">
            <a:pPr algn="ctr">
              <a:defRPr sz="975" b="0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reduction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5BFFEF-8984-4121-8EB8-D47A0FE48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733925"/>
            <a:ext cx="7429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36B"/>
          </a:solidFill>
          <a:ln xmlns:a="http://schemas.openxmlformats.org/drawingml/2006/main" w="0">
            <a:solidFill>
              <a:srgbClr val="C7F36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E102D1-B80D-49CF-B195-13D087BDB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410075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C7F36B"/>
                </a:solidFill>
                <a:latin typeface="Arial"/>
                <a:ea typeface="Arial"/>
                <a:cs typeface="Arial"/>
              </a:defRPr>
            </a:pPr>
            <a:r>
              <a:t>−$12k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2F0DCA-41E8-4DC8-AFE0-D83DA73CA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5391150"/>
            <a:ext cx="89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Smart model</a:t>
            </a:r>
          </a:p>
          <a:p xmlns:a="http://schemas.openxmlformats.org/drawingml/2006/main">
            <a:pPr algn="ctr">
              <a:defRPr sz="975" b="0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routing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3359AF-011B-44CB-B63F-3C580258B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829050"/>
            <a:ext cx="742950" cy="1457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D7E8"/>
          </a:solidFill>
          <a:ln xmlns:a="http://schemas.openxmlformats.org/drawingml/2006/main" w="0">
            <a:solidFill>
              <a:srgbClr val="5ED7E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AD588B-AB74-4EEB-8284-05D85A53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3505200"/>
            <a:ext cx="819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5ED7E8"/>
                </a:solidFill>
                <a:latin typeface="Arial"/>
                <a:ea typeface="Arial"/>
                <a:cs typeface="Arial"/>
              </a:defRPr>
            </a:pPr>
            <a:r>
              <a:t>$65k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6DFA2E9-7DB2-4A58-8967-A6720ABB2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5391150"/>
            <a:ext cx="895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New run-rate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F77B08-CEB5-4C3C-B24A-CE08D7A8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953125"/>
            <a:ext cx="476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C7F36B"/>
                </a:solidFill>
                <a:latin typeface="Arial"/>
                <a:ea typeface="Arial"/>
                <a:cs typeface="Arial"/>
              </a:defRPr>
            </a:pPr>
            <a:r>
              <a:t>35% lower run-rate without blindly shrinking quality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EA3372E-5383-4332-BC7D-7916E92FF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Illustrative economics; replace with actual usage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03F8658-95AB-4005-B535-33F95EACC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697145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F7818D-E136-4A66-AE90-FD106D38B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F8F5EE"/>
            </a:solidFill>
          </a:ln>
        </p:spPr>
      </p:sp>
      <p:sp>
        <p:nvSpPr>
          <p:cNvPr id="2" name="kicker-6-marker">
            <a:extLst xmlns:a="http://schemas.openxmlformats.org/drawingml/2006/main">
              <a:ext uri="{FF2B5EF4-FFF2-40B4-BE49-F238E27FC236}">
                <a16:creationId xmlns:a16="http://schemas.microsoft.com/office/drawing/2014/main" id="{79550610-7DCE-42BB-ACA1-9F627DDE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36B"/>
          </a:solidFill>
          <a:ln xmlns:a="http://schemas.openxmlformats.org/drawingml/2006/main" w="9525">
            <a:solidFill>
              <a:srgbClr val="C7F36B"/>
            </a:solidFill>
          </a:ln>
        </p:spPr>
      </p:sp>
      <p:sp>
        <p:nvSpPr>
          <p:cNvPr id="3" name="kicker-6-label">
            <a:extLst xmlns:a="http://schemas.openxmlformats.org/drawingml/2006/main">
              <a:ext uri="{FF2B5EF4-FFF2-40B4-BE49-F238E27FC236}">
                <a16:creationId xmlns:a16="http://schemas.microsoft.com/office/drawing/2014/main" id="{42991325-D81C-457A-9BB2-688A3A55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SYSTEM RELIABILITY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CCF52B-D690-4271-AE0D-484216983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144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 Black"/>
                <a:ea typeface="Arial Black"/>
                <a:cs typeface="Arial Black"/>
              </a:defRPr>
            </a:pPr>
            <a:r>
              <a:t>Reliability improves when every failure becomes a feedback loop.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FA69B-6284-4617-978D-54FD7464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00250"/>
            <a:ext cx="352425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2E755B-83B0-4280-A456-453F1F78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11430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14914-FB57-4A29-9F46-43EAEC6B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43200"/>
            <a:ext cx="952500" cy="952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9525">
            <a:solidFill>
              <a:srgbClr val="FF6B5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F1403-477A-4F12-8332-52D24E64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743200"/>
            <a:ext cx="952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!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33B36-400C-44F3-B341-76E40BD4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2895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“This is fine.”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58EE1-FFE8-4087-9871-DA4F84B5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38650"/>
            <a:ext cx="2514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No trace ID</a:t>
            </a:r>
          </a:p>
          <a:p xmlns:a="http://schemas.openxmlformats.org/drawingml/2006/main">
            <a:pPr algn="ctr">
              <a:defRPr sz="1350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No owner</a:t>
            </a:r>
          </a:p>
          <a:p xmlns:a="http://schemas.openxmlformats.org/drawingml/2006/main">
            <a:pPr algn="ctr">
              <a:defRPr sz="1350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No reproducible case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C6D48-AB44-4A3A-A0E5-C45E3815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002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C8A"/>
                </a:solidFill>
                <a:latin typeface="Arial"/>
                <a:ea typeface="Arial"/>
                <a:cs typeface="Arial"/>
              </a:defRPr>
            </a:pPr>
            <a:r>
              <a:t>AFTER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9091F1-54FF-4FB9-AA85-BA944139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67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D7E8"/>
          </a:solidFill>
          <a:ln xmlns:a="http://schemas.openxmlformats.org/drawingml/2006/main" w="9525">
            <a:solidFill>
              <a:srgbClr val="5ED7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28433B-3F8D-4F86-8C55-600EE628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670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828EC8-6515-46CA-B988-C27615CC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6725" y="33718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DETECT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A01AA8-A0DB-42A0-9253-94FD2ED9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3648075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SLO + anomaly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E62DD6-D712-48B7-82A3-5D0E88E88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94322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121489-8E7E-463F-B0DF-3DB0B9BBE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000750" y="2867025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308B4D-91D7-4D8C-826D-9E2479F7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67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D7E8"/>
          </a:solidFill>
          <a:ln xmlns:a="http://schemas.openxmlformats.org/drawingml/2006/main" w="9525">
            <a:solidFill>
              <a:srgbClr val="5ED7E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459E26C-28CC-40FB-AE4D-924A0BAD5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670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2DC66C-7A20-40D7-945C-DABA2887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718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DIAGNOSE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99215D-2471-4F44-AC63-29DE90A9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48075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trace + eval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529602-BA61-4E2F-BBFB-656126546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294322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8E6EA2-379C-485D-9766-B2FE01B3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762875" y="2867025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C7E3AD-63FF-48CE-99D4-8C12EF563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67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D7E8"/>
          </a:solidFill>
          <a:ln xmlns:a="http://schemas.openxmlformats.org/drawingml/2006/main" w="9525">
            <a:solidFill>
              <a:srgbClr val="5ED7E8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E81D12-00F1-40A9-B448-1E7FC473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670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BC93CB-3842-4E4C-A444-5F6DD5F1B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33718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AA4408-E741-43A2-9002-B6A1225D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648075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fallback + fix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5A3565-784A-4A82-BCB1-4650220C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43225"/>
            <a:ext cx="8763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19B723F-DCB4-4C7A-9099-3F70D5E2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25000" y="2867025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777983F-2E66-4F1D-BA63-C7B1BCF7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667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36B"/>
          </a:solidFill>
          <a:ln xmlns:a="http://schemas.openxmlformats.org/drawingml/2006/main" w="9525">
            <a:solidFill>
              <a:srgbClr val="C7F36B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810419-4E33-44C7-B29E-69F820512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2667000"/>
            <a:ext cx="5905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395EC00-02A3-4768-BFF9-6F591C68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371850"/>
            <a:ext cx="1066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LEARN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9AB2641-6351-4EB1-B36A-ED686F87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48075"/>
            <a:ext cx="1257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test + threshold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36B242-0208-4574-BEAB-89AF8328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514850"/>
            <a:ext cx="638175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D8D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B1E7FC6-CD87-4BA9-B6AC-E4793214E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4686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ILLUSTRATIVE MTTR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4F517A-0F13-46EA-A4EA-82B2C8C4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591050"/>
            <a:ext cx="12573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t>90 min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D77F7F-C438-4954-B388-DB825668E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591050"/>
            <a:ext cx="42862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-&gt;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28D6426-568D-40D9-A84C-69A63675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591050"/>
            <a:ext cx="14287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87C8A"/>
                </a:solidFill>
                <a:latin typeface="Arial"/>
                <a:ea typeface="Arial"/>
                <a:cs typeface="Arial"/>
              </a:defRPr>
            </a:pPr>
            <a:r>
              <a:t>25 min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7183E2-7BC7-4C99-9EBA-2F082FB5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048250"/>
            <a:ext cx="3905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because the incident arrives with evidence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A6BE3B8-EA22-4897-857E-102E54FD4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Illustrative business examples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A0AC925-0A7F-4C50-9D06-AF6F19CC8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1815155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E8C86E-97E6-4C7A-B673-196951224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</p:sp>
      <p:sp>
        <p:nvSpPr>
          <p:cNvPr id="2" name="kicker-7-marker">
            <a:extLst xmlns:a="http://schemas.openxmlformats.org/drawingml/2006/main">
              <a:ext uri="{FF2B5EF4-FFF2-40B4-BE49-F238E27FC236}">
                <a16:creationId xmlns:a16="http://schemas.microsoft.com/office/drawing/2014/main" id="{07DF2623-D0EB-4FE5-A513-878C84B8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36B"/>
          </a:solidFill>
          <a:ln xmlns:a="http://schemas.openxmlformats.org/drawingml/2006/main" w="9525">
            <a:solidFill>
              <a:srgbClr val="C7F36B"/>
            </a:solidFill>
          </a:ln>
        </p:spPr>
      </p:sp>
      <p:sp>
        <p:nvSpPr>
          <p:cNvPr id="3" name="kicker-7-label">
            <a:extLst xmlns:a="http://schemas.openxmlformats.org/drawingml/2006/main">
              <a:ext uri="{FF2B5EF4-FFF2-40B4-BE49-F238E27FC236}">
                <a16:creationId xmlns:a16="http://schemas.microsoft.com/office/drawing/2014/main" id="{52E8324D-79AF-45B4-A1F6-7C7AFB4D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ENTERPRISE USE CASES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81B212-443C-4481-B6B1-ABE64ACB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144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8F5EE"/>
                </a:solidFill>
                <a:latin typeface="Arial Black"/>
                <a:ea typeface="Arial Black"/>
                <a:cs typeface="Arial Black"/>
              </a:defRPr>
            </a:pPr>
            <a:r>
              <a:t>One monitoring control plane supports many business workflows.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FBB296-BD35-4A7A-81A0-6A1F4997D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57425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33A"/>
          </a:solidFill>
          <a:ln xmlns:a="http://schemas.openxmlformats.org/drawingml/2006/main" w="9525">
            <a:solidFill>
              <a:srgbClr val="43516B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1641F-38BE-4CA3-AC09-EF1C1250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8130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ED7E8"/>
          </a:solidFill>
          <a:ln xmlns:a="http://schemas.openxmlformats.org/drawingml/2006/main" w="9525">
            <a:solidFill>
              <a:srgbClr val="5ED7E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F7B938-70F5-484B-A343-F0016F1E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28975"/>
            <a:ext cx="1009650" cy="1009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111827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386014-4FCA-4F5F-9498-CD3B7BAE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28975"/>
            <a:ext cx="10096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7F36B"/>
                </a:solidFill>
                <a:latin typeface="Arial"/>
                <a:ea typeface="Arial"/>
                <a:cs typeface="Arial"/>
              </a:defRPr>
            </a:pPr>
            <a:r>
              <a:t>MONITOR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3DCC6A-E4C0-455F-9655-21767982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95500"/>
            <a:ext cx="285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8233A"/>
          </a:solidFill>
          <a:ln xmlns:a="http://schemas.openxmlformats.org/drawingml/2006/main" w="19050">
            <a:solidFill>
              <a:srgbClr val="FF6B5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D40906-7D98-46A9-9676-BF7A32B75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6695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t>CUSTOMER CARE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F5CF2D-7845-474A-9F56-62B7916FA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0032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accuracy + escalation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7A0153-4589-45D5-9A01-9AC73CEF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0"/>
            <a:ext cx="285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8233A"/>
          </a:solidFill>
          <a:ln xmlns:a="http://schemas.openxmlformats.org/drawingml/2006/main" w="19050">
            <a:solidFill>
              <a:srgbClr val="5ED7E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4B966-F999-45BB-8B29-8996D086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5ED7E8"/>
                </a:solidFill>
                <a:latin typeface="Arial"/>
                <a:ea typeface="Arial"/>
                <a:cs typeface="Arial"/>
              </a:defRPr>
            </a:pPr>
            <a:r>
              <a:t>KNOWLEDGE COPILOTS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D1D7B7-3EA6-4C53-B5E6-70C5EF91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910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grounding + freshness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0FA0F-6036-4B6F-B2BF-669CD4182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76450"/>
            <a:ext cx="285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8233A"/>
          </a:solidFill>
          <a:ln xmlns:a="http://schemas.openxmlformats.org/drawingml/2006/main" w="19050">
            <a:solidFill>
              <a:srgbClr val="C7F36B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7706E1-6F84-41A7-9833-19C23AE44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479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7F36B"/>
                </a:solidFill>
                <a:latin typeface="Arial"/>
                <a:ea typeface="Arial"/>
                <a:cs typeface="Arial"/>
              </a:defRPr>
            </a:pPr>
            <a:r>
              <a:t>SOFTWARE DELIVERY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47E84C-41E3-41A3-AF53-E3A931155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5812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code risk + latency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C7717F-D7EB-4351-8103-CA3B9C438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286250"/>
            <a:ext cx="285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8233A"/>
          </a:solidFill>
          <a:ln xmlns:a="http://schemas.openxmlformats.org/drawingml/2006/main" w="19050">
            <a:solidFill>
              <a:srgbClr val="9B8AFB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236226-8677-4A76-BF4F-C939110CE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577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FINANCE &amp; OPS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80D014-BD2C-411D-8A5C-996D71E2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7910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cost + auditability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EA93C8-E91C-4EA6-A67E-61D6A2ED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429250"/>
            <a:ext cx="285750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8233A"/>
          </a:solidFill>
          <a:ln xmlns:a="http://schemas.openxmlformats.org/drawingml/2006/main" w="19050">
            <a:solidFill>
              <a:srgbClr val="FF6B5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615CE0-1B96-45F4-A885-F846FB9D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600700"/>
            <a:ext cx="2476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t>RISK &amp; COMPLIANCE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E341E3-7AD6-45BB-BEF4-AA7DDC85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934075"/>
            <a:ext cx="247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PII + policy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0B5220-A991-4C17-A20F-B3B736FDE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571750"/>
            <a:ext cx="1381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3FA27B-789E-4551-867A-A52B31DA6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86300"/>
            <a:ext cx="180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ED7E8"/>
          </a:solidFill>
          <a:ln xmlns:a="http://schemas.openxmlformats.org/drawingml/2006/main" w="0">
            <a:solidFill>
              <a:srgbClr val="5ED7E8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B24ACD-0F30-4358-B8A6-32E7FE65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762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F36B"/>
          </a:solidFill>
          <a:ln xmlns:a="http://schemas.openxmlformats.org/drawingml/2006/main" w="0">
            <a:solidFill>
              <a:srgbClr val="C7F36B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AEDF32-4581-402C-BABC-522E9B468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7053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AFB"/>
          </a:solidFill>
          <a:ln xmlns:a="http://schemas.openxmlformats.org/drawingml/2006/main" w="0">
            <a:solidFill>
              <a:srgbClr val="9B8AFB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21BD3D-7BE0-4FDB-9940-6C2C1415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91125"/>
            <a:ext cx="2857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F9027C8-B110-4A59-ADB0-266418A9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81175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Shared telemetry. Role-specific decisions.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C76DB5-5D9C-472C-825F-BBED3A4C5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Illustrative business examples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577D963-3300-4CFF-801E-0BAF7764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7795643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846A01-2E17-483F-A069-D814AF42E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5EE"/>
          </a:solidFill>
          <a:ln xmlns:a="http://schemas.openxmlformats.org/drawingml/2006/main" w="0">
            <a:solidFill>
              <a:srgbClr val="F8F5EE"/>
            </a:solidFill>
          </a:ln>
        </p:spPr>
      </p:sp>
      <p:sp>
        <p:nvSpPr>
          <p:cNvPr id="2" name="kicker-8-marker">
            <a:extLst xmlns:a="http://schemas.openxmlformats.org/drawingml/2006/main">
              <a:ext uri="{FF2B5EF4-FFF2-40B4-BE49-F238E27FC236}">
                <a16:creationId xmlns:a16="http://schemas.microsoft.com/office/drawing/2014/main" id="{479DC510-76A0-4D9C-A25F-D48FB71A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33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36B"/>
          </a:solidFill>
          <a:ln xmlns:a="http://schemas.openxmlformats.org/drawingml/2006/main" w="9525">
            <a:solidFill>
              <a:srgbClr val="C7F36B"/>
            </a:solidFill>
          </a:ln>
        </p:spPr>
      </p:sp>
      <p:sp>
        <p:nvSpPr>
          <p:cNvPr id="3" name="kicker-8-label">
            <a:extLst xmlns:a="http://schemas.openxmlformats.org/drawingml/2006/main">
              <a:ext uri="{FF2B5EF4-FFF2-40B4-BE49-F238E27FC236}">
                <a16:creationId xmlns:a16="http://schemas.microsoft.com/office/drawing/2014/main" id="{DD0DB5D2-8CB6-4666-A13F-362ABC41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476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OPERATING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054E10-CC3A-4648-995A-FAC436CC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90550"/>
            <a:ext cx="11144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11827"/>
                </a:solidFill>
                <a:latin typeface="Arial Black"/>
                <a:ea typeface="Arial Black"/>
                <a:cs typeface="Arial Black"/>
              </a:defRPr>
            </a:pPr>
            <a:r>
              <a:t>A dashboard without an owner is just expensive wallpaper.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AA1236-8CB9-4871-B5A1-C7486611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6690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t>THE MEME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757D1D-D2F7-4725-A756-F0635BA9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90750"/>
            <a:ext cx="3143250" cy="3000375"/>
          </a:xfrm>
          <a:prstGeom xmlns:a="http://schemas.openxmlformats.org/drawingml/2006/main" prst="roundRect">
            <a:avLst>
              <a:gd name="adj" fmla="val 254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1BE34B-6347-4F8F-99B1-050DEEECB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57450"/>
            <a:ext cx="2571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ED7E8"/>
                </a:solidFill>
                <a:latin typeface="Arial"/>
                <a:ea typeface="Arial"/>
                <a:cs typeface="Arial"/>
              </a:defRPr>
            </a:pPr>
            <a:r>
              <a:t>OBSERVABILITY</a:t>
            </a:r>
          </a:p>
          <a:p xmlns:a="http://schemas.openxmlformats.org/drawingml/2006/main">
            <a:pPr algn="ctr">
              <a:defRPr sz="1950" b="1">
                <a:solidFill>
                  <a:srgbClr val="5ED7E8"/>
                </a:solidFill>
                <a:latin typeface="Arial"/>
                <a:ea typeface="Arial"/>
                <a:cs typeface="Arial"/>
              </a:defRPr>
            </a:pPr>
            <a:r>
              <a:t>DASHBOARD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17107-0A8C-47F0-92D4-155F8A64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2571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FF6B5E"/>
                </a:solidFill>
                <a:latin typeface="Arial Black"/>
                <a:ea typeface="Arial Black"/>
                <a:cs typeface="Arial Black"/>
              </a:defRPr>
            </a:pPr>
            <a:r>
              <a:t>99 alerts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5EDB36-DA42-4540-9851-F72F4F8D2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Owner: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B40AAC-21D1-4AC4-9C16-7583E4409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3952875"/>
            <a:ext cx="13525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(shrug)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11E4A7-0AA1-40B8-BACB-E7F0C297B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52950"/>
            <a:ext cx="781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Action: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CE6553-1F8E-49E2-AE5D-6780E328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F8F5EE"/>
                </a:solidFill>
                <a:latin typeface="Arial"/>
                <a:ea typeface="Arial"/>
                <a:cs typeface="Arial"/>
              </a:defRPr>
            </a:pPr>
            <a:r>
              <a:t>refresh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F88057-7458-4E0A-95C4-6C5F5324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66900"/>
            <a:ext cx="180975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87C8A"/>
                </a:solidFill>
                <a:latin typeface="Arial"/>
                <a:ea typeface="Arial"/>
                <a:cs typeface="Arial"/>
              </a:defRPr>
            </a:pPr>
            <a:r>
              <a:t>THE FIX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7DB3E7-9A1D-4A7D-983B-C000C7C3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09800"/>
            <a:ext cx="7048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D8D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CD836-A103-472E-94DA-EF9BBEB7A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241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OBSERVE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7D0BB5-8846-4682-BF61-6258BB672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241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Platform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AD5C80-E735-4B55-8689-F86D3954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324100"/>
            <a:ext cx="2714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Trace, score, segment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DC7E04-25EA-423A-8584-418D2315B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324100"/>
            <a:ext cx="904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Daily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C03CDC-EC4B-4EFF-BDE7-1142BD482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90850"/>
            <a:ext cx="7048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D8D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5BFB81-6977-443D-B83F-19E56CC9F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DECIDE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EA6A8D-9A9C-40ED-8108-D4C917E47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051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Product + Risk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8BFF4A-718B-4C5A-8CF1-8EC91624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105150"/>
            <a:ext cx="2714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Threshold, trade-off, priority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974666-0894-421E-AA91-0121EC96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105150"/>
            <a:ext cx="904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Weekly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903746-A765-419F-A9E9-C4EF985AB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71900"/>
            <a:ext cx="7048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D8D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542F24D-E2FE-49CD-A08E-1AC46CE89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8620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ACT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3C0399-FEFD-43A8-B5FA-8B6F1A49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88620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Engineering + Ops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5D4A06A-E256-46AF-AFE5-24DC94BC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886200"/>
            <a:ext cx="2714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Fix, route, rollback, test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B916DC-6079-412B-9797-D4806D16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886200"/>
            <a:ext cx="904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SLA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7B129D-49C4-4473-A39A-BC6506449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52950"/>
            <a:ext cx="70485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C7F36B"/>
          </a:solidFill>
          <a:ln xmlns:a="http://schemas.openxmlformats.org/drawingml/2006/main" w="19050">
            <a:solidFill>
              <a:srgbClr val="C7F36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B950842-49A3-45C6-9AA9-37A08A33E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67250"/>
            <a:ext cx="1143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PROVE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7A0EA1C-34DD-4013-B7CB-D75898EA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67250"/>
            <a:ext cx="1619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Business owner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010843-A87F-4EA8-91E4-36CA6E83F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4667250"/>
            <a:ext cx="2714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Outcome, savings, confidence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5EE15D7-679A-400C-86C1-E8A6F24F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4667250"/>
            <a:ext cx="9048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Monthly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392F1F-9D23-4566-92B6-6D38AA35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448300"/>
            <a:ext cx="95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SIGNAL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E40A4A-F3F2-4D9B-A685-27B65AD3D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562600"/>
            <a:ext cx="46196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DFB8F4-FA34-4722-8809-DCA97643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0010775" y="5486400"/>
            <a:ext cx="171450" cy="1905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F6B5E"/>
          </a:solidFill>
          <a:ln xmlns:a="http://schemas.openxmlformats.org/drawingml/2006/main" w="0">
            <a:solidFill>
              <a:srgbClr val="FF6B5E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52C6AB4-1549-4AC2-BBA6-4B307E3D5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448300"/>
            <a:ext cx="133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t>BUSINESS ACTION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C13970F-D7D2-4BF3-9E82-ADB2E4D83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Illustrative business examples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F9D8549-7E84-4E1E-90F9-B7D3C3FC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1067056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37ED97-065D-42BA-8CF0-A1B95D8F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0">
            <a:solidFill>
              <a:srgbClr val="111827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557E69-8DCB-403B-B959-C28234AD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342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7F36B"/>
                </a:solidFill>
                <a:latin typeface="Arial"/>
                <a:ea typeface="Arial"/>
                <a:cs typeface="Arial"/>
              </a:defRPr>
            </a:pPr>
            <a:r>
              <a:t>THE BUSINESS CASE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FACE6-B39E-4909-86BE-118BEF56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4875"/>
            <a:ext cx="7524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8F5EE"/>
                </a:solidFill>
                <a:latin typeface="Arial Black"/>
                <a:ea typeface="Arial Black"/>
                <a:cs typeface="Arial Black"/>
              </a:defRPr>
            </a:pPr>
            <a:r>
              <a:t>Monitor what matters.</a:t>
            </a:r>
          </a:p>
          <a:p xmlns:a="http://schemas.openxmlformats.org/drawingml/2006/main">
            <a:pPr algn="l">
              <a:defRPr sz="4350" b="1">
                <a:solidFill>
                  <a:srgbClr val="F8F5EE"/>
                </a:solidFill>
                <a:latin typeface="Arial Black"/>
                <a:ea typeface="Arial Black"/>
                <a:cs typeface="Arial Black"/>
              </a:defRPr>
            </a:pPr>
            <a:r>
              <a:t>Scale what works.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860D94-E76C-4DFB-86F3-FE980839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685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LLM monitoring is not surveillance for models. It is a management system for outcomes.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3AAB33-2AAA-4B0D-ABEB-25E26297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2438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8233A"/>
          </a:solidFill>
          <a:ln xmlns:a="http://schemas.openxmlformats.org/drawingml/2006/main" w="19050">
            <a:solidFill>
              <a:srgbClr val="5ED7E8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6A85E-2A20-498A-924F-8DD4E5F7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910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ED7E8"/>
                </a:solidFill>
                <a:latin typeface="Arial"/>
                <a:ea typeface="Arial"/>
                <a:cs typeface="Arial"/>
              </a:defRPr>
            </a:pPr>
            <a:r>
              <a:t>BETTER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891812-37BA-425E-8C7C-C27531B08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33900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8F5EE"/>
                </a:solidFill>
                <a:latin typeface="Arial Black"/>
                <a:ea typeface="Arial Black"/>
                <a:cs typeface="Arial Black"/>
              </a:defRPr>
            </a:pPr>
            <a:r>
              <a:t>QUALITY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AEE880-7238-4AE2-AE8B-5D87E126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000500"/>
            <a:ext cx="2438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8233A"/>
          </a:solidFill>
          <a:ln xmlns:a="http://schemas.openxmlformats.org/drawingml/2006/main" w="19050">
            <a:solidFill>
              <a:srgbClr val="C7F36B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868331-FC6B-4DD6-A7B0-62ADCF49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910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7F36B"/>
                </a:solidFill>
                <a:latin typeface="Arial"/>
                <a:ea typeface="Arial"/>
                <a:cs typeface="Arial"/>
              </a:defRPr>
            </a:pPr>
            <a:r>
              <a:t>LOWER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61452-1A5C-45EB-B7D4-13898580D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533900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8F5EE"/>
                </a:solidFill>
                <a:latin typeface="Arial Black"/>
                <a:ea typeface="Arial Black"/>
                <a:cs typeface="Arial Black"/>
              </a:defRPr>
            </a:pPr>
            <a:r>
              <a:t>COST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D3B8EF-61DE-4851-B341-EF7201F72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000500"/>
            <a:ext cx="2438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8233A"/>
          </a:solidFill>
          <a:ln xmlns:a="http://schemas.openxmlformats.org/drawingml/2006/main" w="19050">
            <a:solidFill>
              <a:srgbClr val="FF6B5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40281D-CC57-422A-A022-731CAEC5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1910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6B5E"/>
                </a:solidFill>
                <a:latin typeface="Arial"/>
                <a:ea typeface="Arial"/>
                <a:cs typeface="Arial"/>
              </a:defRPr>
            </a:pPr>
            <a:r>
              <a:t>FASTER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76A244-7BED-4A52-A486-0042113F7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533900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8F5EE"/>
                </a:solidFill>
                <a:latin typeface="Arial Black"/>
                <a:ea typeface="Arial Black"/>
                <a:cs typeface="Arial Black"/>
              </a:defRPr>
            </a:pPr>
            <a:r>
              <a:t>RECOVERY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36996D-620F-43C2-9784-CA5290BEF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00500"/>
            <a:ext cx="243840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8233A"/>
          </a:solidFill>
          <a:ln xmlns:a="http://schemas.openxmlformats.org/drawingml/2006/main" w="19050">
            <a:solidFill>
              <a:srgbClr val="9B8AFB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12A46E-7F2A-4D14-9BF0-E599387B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91000"/>
            <a:ext cx="2057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9B8AFB"/>
                </a:solidFill>
                <a:latin typeface="Arial"/>
                <a:ea typeface="Arial"/>
                <a:cs typeface="Arial"/>
              </a:defRPr>
            </a:pPr>
            <a:r>
              <a:t>SAFER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902D33-B132-47F5-B872-9CED54313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533900"/>
            <a:ext cx="2057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8F5EE"/>
                </a:solidFill>
                <a:latin typeface="Arial Black"/>
                <a:ea typeface="Arial Black"/>
                <a:cs typeface="Arial Black"/>
              </a:defRPr>
            </a:pPr>
            <a:r>
              <a:t>SCALE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CD75E9-4658-4E6F-A2F5-37D6452F3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05475"/>
            <a:ext cx="11144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158"/>
          </a:solidFill>
          <a:ln xmlns:a="http://schemas.openxmlformats.org/drawingml/2006/main" w="0">
            <a:solidFill>
              <a:srgbClr val="344158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A5A74E-6E73-422E-A486-0E41E1349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90550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7F36B"/>
                </a:solidFill>
                <a:latin typeface="Arial"/>
                <a:ea typeface="Arial"/>
                <a:cs typeface="Arial"/>
              </a:defRPr>
            </a:pPr>
            <a:r>
              <a:t>Start with one high-value workflow, three business metrics, and a named action owner.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E83997-05D1-4B0C-953A-79D15243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7340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F36B"/>
          </a:solidFill>
          <a:ln xmlns:a="http://schemas.openxmlformats.org/drawingml/2006/main" w="9525">
            <a:solidFill>
              <a:srgbClr val="C7F36B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2E7FE7-FC01-4BAF-8CEF-256008CB4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5734050"/>
            <a:ext cx="666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Arial"/>
                <a:ea typeface="Arial"/>
                <a:cs typeface="Arial"/>
              </a:defRPr>
            </a:pPr>
            <a:r>
              <a:t>GO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3ED190-5D08-401D-899A-CDDD3722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571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LLM monitoring business summary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8B31C8-5837-4DB9-A388-8625F8DE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361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9CA3AF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11850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2026-06-12T09:04:37.3090000Z</dcterms:created>
  <dcterms:modified xsi:type="dcterms:W3CDTF">2026-06-12T09:04:37.3090000Z</dcterms:modified>
</coreProperties>
</file>