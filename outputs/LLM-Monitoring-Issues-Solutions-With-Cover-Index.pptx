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B4278C-0812-4D1B-8E46-7A3FEE44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79C71-D97E-4E2F-8B93-30636E47FC8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BUSINESS-FACING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1C6DE-B74A-4E86-A13B-84EAF6C0C805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7810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0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Why LLM Monitoring</a:t>
            </a:r>
          </a:p>
          <a:p>
            <a:pPr algn="l">
              <a:defRPr sz="40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Matters for Enterprise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F9371-8EB6-4315-8BEE-3657E4A130A1}"/>
              </a:ext>
            </a:extLst>
          </p:cNvPr>
          <p:cNvSpPr>
            <a:spLocks noGrp="1"/>
          </p:cNvSpPr>
          <p:nvPr/>
        </p:nvSpPr>
        <p:spPr>
          <a:xfrm>
            <a:off x="552450" y="2905125"/>
            <a:ext cx="8096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Issues, observability insights, cost controls, reliability improvements, and enterprise use cases using our Azure OpenAI RAG monitoring platform.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8B8C3D-CEAF-4019-A229-C370642F5880}"/>
              </a:ext>
            </a:extLst>
          </p:cNvPr>
          <p:cNvSpPr>
            <a:spLocks noGrp="1"/>
          </p:cNvSpPr>
          <p:nvPr/>
        </p:nvSpPr>
        <p:spPr>
          <a:xfrm>
            <a:off x="8572500" y="647700"/>
            <a:ext cx="2571750" cy="4000500"/>
          </a:xfrm>
          <a:prstGeom prst="roundRect">
            <a:avLst>
              <a:gd name="adj" fmla="val 2963"/>
            </a:avLst>
          </a:prstGeom>
          <a:solidFill>
            <a:srgbClr val="19243A"/>
          </a:solidFill>
          <a:ln w="19050">
            <a:solidFill>
              <a:srgbClr val="34415A"/>
            </a:solidFill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63F894-616A-4BA7-881E-A6C1ABE3F78E}"/>
              </a:ext>
            </a:extLst>
          </p:cNvPr>
          <p:cNvSpPr>
            <a:spLocks noGrp="1"/>
          </p:cNvSpPr>
          <p:nvPr/>
        </p:nvSpPr>
        <p:spPr>
          <a:xfrm>
            <a:off x="9391650" y="1257300"/>
            <a:ext cx="952500" cy="9525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6958A-4B27-4FD0-B989-DFD185F76F38}"/>
              </a:ext>
            </a:extLst>
          </p:cNvPr>
          <p:cNvSpPr>
            <a:spLocks noGrp="1"/>
          </p:cNvSpPr>
          <p:nvPr/>
        </p:nvSpPr>
        <p:spPr>
          <a:xfrm>
            <a:off x="9391650" y="1257300"/>
            <a:ext cx="95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24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ACCB2-268F-46DC-A9C0-07F1CBC78DC9}"/>
              </a:ext>
            </a:extLst>
          </p:cNvPr>
          <p:cNvSpPr>
            <a:spLocks noGrp="1"/>
          </p:cNvSpPr>
          <p:nvPr/>
        </p:nvSpPr>
        <p:spPr>
          <a:xfrm>
            <a:off x="9867900" y="2324100"/>
            <a:ext cx="38100" cy="123825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3C22D-D27D-4D2E-8E54-2EAFB9C41F68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17526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75738-4BEF-4CE2-9860-830942692B03}"/>
              </a:ext>
            </a:extLst>
          </p:cNvPr>
          <p:cNvSpPr>
            <a:spLocks noGrp="1"/>
          </p:cNvSpPr>
          <p:nvPr/>
        </p:nvSpPr>
        <p:spPr>
          <a:xfrm>
            <a:off x="8839200" y="3829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MONITOR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E0B46A-6AA6-4612-9842-1B276A93A888}"/>
              </a:ext>
            </a:extLst>
          </p:cNvPr>
          <p:cNvSpPr>
            <a:spLocks noGrp="1"/>
          </p:cNvSpPr>
          <p:nvPr/>
        </p:nvSpPr>
        <p:spPr>
          <a:xfrm>
            <a:off x="8743950" y="4238625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quality | cost | latency | drift | safety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4A7EE3-E955-44F6-9413-9CED657644DA}"/>
              </a:ext>
            </a:extLst>
          </p:cNvPr>
          <p:cNvSpPr>
            <a:spLocks noGrp="1"/>
          </p:cNvSpPr>
          <p:nvPr/>
        </p:nvSpPr>
        <p:spPr>
          <a:xfrm>
            <a:off x="552450" y="566737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Prepared for: LLM Monitoring Platform Review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815B27-F3DE-4588-9C6E-B32CC0A6C942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Aadesh Shrivastava &amp; Shaily Pandey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D6675-0174-4D2F-816E-7283281B1E32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Source-backed deck | Updated with cover and index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9ECEEA-C7F2-44B6-8B02-508A181D8F41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22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AB26830-80E5-4349-8AF4-E3847F9A41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3AE307A4-A1F7-4179-B0BD-68B1986439C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514AB89D-5EB4-40DF-8D45-3A12A487EBC3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94C0B5-D90B-4553-8FB8-3ABFAD1BA0B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Today’s discussion: from risk evidence to monitoring controls.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FB82FD-8213-4527-92EB-23309B3B9AA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EFEAE0"/>
          </a:solidFill>
          <a:ln w="9525">
            <a:solidFill>
              <a:srgbClr val="D8DAD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209FD2-17EA-471B-A94B-074440FA4C6B}"/>
              </a:ext>
            </a:extLst>
          </p:cNvPr>
          <p:cNvSpPr>
            <a:spLocks noGrp="1"/>
          </p:cNvSpPr>
          <p:nvPr/>
        </p:nvSpPr>
        <p:spPr>
          <a:xfrm>
            <a:off x="1000125" y="19050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8EDFA-7146-4A29-B63A-82A23BC076C4}"/>
              </a:ext>
            </a:extLst>
          </p:cNvPr>
          <p:cNvSpPr>
            <a:spLocks noGrp="1"/>
          </p:cNvSpPr>
          <p:nvPr/>
        </p:nvSpPr>
        <p:spPr>
          <a:xfrm>
            <a:off x="1714500" y="18859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Why LLM monitoring is essential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2B402-333E-4851-BDBA-1C66862E1E87}"/>
              </a:ext>
            </a:extLst>
          </p:cNvPr>
          <p:cNvSpPr>
            <a:spLocks noGrp="1"/>
          </p:cNvSpPr>
          <p:nvPr/>
        </p:nvSpPr>
        <p:spPr>
          <a:xfrm>
            <a:off x="5572125" y="19050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Industry issues: trust, security, cost, uptime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3A01DF-B192-43CA-9DC7-521E9F756AB7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FAD3D-3F93-41E1-8A12-5B734437BD59}"/>
              </a:ext>
            </a:extLst>
          </p:cNvPr>
          <p:cNvSpPr>
            <a:spLocks noGrp="1"/>
          </p:cNvSpPr>
          <p:nvPr/>
        </p:nvSpPr>
        <p:spPr>
          <a:xfrm>
            <a:off x="1000125" y="25908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65B7C-CB14-4BF2-A6A9-AC0F92E0AF47}"/>
              </a:ext>
            </a:extLst>
          </p:cNvPr>
          <p:cNvSpPr>
            <a:spLocks noGrp="1"/>
          </p:cNvSpPr>
          <p:nvPr/>
        </p:nvSpPr>
        <p:spPr>
          <a:xfrm>
            <a:off x="1714500" y="25717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Example observability insights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8C4C4-49D4-441F-8948-FC8A5D59B271}"/>
              </a:ext>
            </a:extLst>
          </p:cNvPr>
          <p:cNvSpPr>
            <a:spLocks noGrp="1"/>
          </p:cNvSpPr>
          <p:nvPr/>
        </p:nvSpPr>
        <p:spPr>
          <a:xfrm>
            <a:off x="5572125" y="25908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Tokens, latency, errors, quality, safety, drift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D6B2592-8AEC-4222-883F-69D406A18A83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EFEAE0"/>
          </a:solidFill>
          <a:ln w="9525">
            <a:solidFill>
              <a:srgbClr val="D8DA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5445CA-1013-4316-AA07-90ACAC6676DC}"/>
              </a:ext>
            </a:extLst>
          </p:cNvPr>
          <p:cNvSpPr>
            <a:spLocks noGrp="1"/>
          </p:cNvSpPr>
          <p:nvPr/>
        </p:nvSpPr>
        <p:spPr>
          <a:xfrm>
            <a:off x="1000125" y="32766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BCD1FE-08B0-413E-A3C6-2F2052D5647D}"/>
              </a:ext>
            </a:extLst>
          </p:cNvPr>
          <p:cNvSpPr>
            <a:spLocks noGrp="1"/>
          </p:cNvSpPr>
          <p:nvPr/>
        </p:nvSpPr>
        <p:spPr>
          <a:xfrm>
            <a:off x="1714500" y="32575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Cost management benefits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CEE745-2620-4DBE-9693-73DE12DA2554}"/>
              </a:ext>
            </a:extLst>
          </p:cNvPr>
          <p:cNvSpPr>
            <a:spLocks noGrp="1"/>
          </p:cNvSpPr>
          <p:nvPr/>
        </p:nvSpPr>
        <p:spPr>
          <a:xfrm>
            <a:off x="5572125" y="32766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Spend visibility, prompt comparison, budget controls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445995F-5356-4494-88DD-1DBDD7D2BF01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84B03B-7A96-4E04-8634-3A78CF90ED81}"/>
              </a:ext>
            </a:extLst>
          </p:cNvPr>
          <p:cNvSpPr>
            <a:spLocks noGrp="1"/>
          </p:cNvSpPr>
          <p:nvPr/>
        </p:nvSpPr>
        <p:spPr>
          <a:xfrm>
            <a:off x="1000125" y="39624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30B7A-D494-4BE3-9745-634932D1A792}"/>
              </a:ext>
            </a:extLst>
          </p:cNvPr>
          <p:cNvSpPr>
            <a:spLocks noGrp="1"/>
          </p:cNvSpPr>
          <p:nvPr/>
        </p:nvSpPr>
        <p:spPr>
          <a:xfrm>
            <a:off x="1714500" y="39433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System reliability improvements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3CD25B-7E48-4FC3-9558-C31847DFFEE2}"/>
              </a:ext>
            </a:extLst>
          </p:cNvPr>
          <p:cNvSpPr>
            <a:spLocks noGrp="1"/>
          </p:cNvSpPr>
          <p:nvPr/>
        </p:nvSpPr>
        <p:spPr>
          <a:xfrm>
            <a:off x="5572125" y="39624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Tail latency, dependency isolation, slow-query alerts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7FDDAA6-CDFC-48B0-8572-565063DD4B02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EFEAE0"/>
          </a:solidFill>
          <a:ln w="9525">
            <a:solidFill>
              <a:srgbClr val="D8DADF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EC773B-84CE-42A4-8C28-1CB941B1B51B}"/>
              </a:ext>
            </a:extLst>
          </p:cNvPr>
          <p:cNvSpPr>
            <a:spLocks noGrp="1"/>
          </p:cNvSpPr>
          <p:nvPr/>
        </p:nvSpPr>
        <p:spPr>
          <a:xfrm>
            <a:off x="1000125" y="46482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C7AEF0-D945-4D14-9184-EDF27D34C2D6}"/>
              </a:ext>
            </a:extLst>
          </p:cNvPr>
          <p:cNvSpPr>
            <a:spLocks noGrp="1"/>
          </p:cNvSpPr>
          <p:nvPr/>
        </p:nvSpPr>
        <p:spPr>
          <a:xfrm>
            <a:off x="1714500" y="46291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Enterprise use cases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71EE72-47E1-44CE-87DF-C79D965E9139}"/>
              </a:ext>
            </a:extLst>
          </p:cNvPr>
          <p:cNvSpPr>
            <a:spLocks noGrp="1"/>
          </p:cNvSpPr>
          <p:nvPr/>
        </p:nvSpPr>
        <p:spPr>
          <a:xfrm>
            <a:off x="5572125" y="46482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Customer care, copilots, compliance, support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1939A6-4FB4-49D9-ABB8-0F945444D6EA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22A163-E0F4-48A5-924F-C4E273077518}"/>
              </a:ext>
            </a:extLst>
          </p:cNvPr>
          <p:cNvSpPr>
            <a:spLocks noGrp="1"/>
          </p:cNvSpPr>
          <p:nvPr/>
        </p:nvSpPr>
        <p:spPr>
          <a:xfrm>
            <a:off x="1000125" y="5334000"/>
            <a:ext cx="52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D2840-C380-4460-9F42-D76CA40CB261}"/>
              </a:ext>
            </a:extLst>
          </p:cNvPr>
          <p:cNvSpPr>
            <a:spLocks noGrp="1"/>
          </p:cNvSpPr>
          <p:nvPr/>
        </p:nvSpPr>
        <p:spPr>
          <a:xfrm>
            <a:off x="1714500" y="5314950"/>
            <a:ext cx="3524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Our project solution roadmap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A22F72-1CE7-401D-9F48-43031AD8B408}"/>
              </a:ext>
            </a:extLst>
          </p:cNvPr>
          <p:cNvSpPr>
            <a:spLocks noGrp="1"/>
          </p:cNvSpPr>
          <p:nvPr/>
        </p:nvSpPr>
        <p:spPr>
          <a:xfrm>
            <a:off x="5572125" y="5334000"/>
            <a:ext cx="514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5E6875"/>
                </a:solidFill>
                <a:latin typeface="Arial"/>
                <a:ea typeface="Arial"/>
                <a:cs typeface="Arial"/>
              </a:defRPr>
            </a:pPr>
            <a:r>
              <a:t>Observe today; control and automate next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C90149-732A-4B2E-92D9-AC1781C050F6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Agenda for 10-minute executive presentation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F98A99-2788-442F-932F-60E0B3FC552A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638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56E60C1-BD06-4278-A5C4-0803E594A7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C87AF950-7B90-4EA4-97DF-4644D655F07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F1AA2321-E648-4D99-A171-D8EE825FE02B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WHY ESSENTIAL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F8BDF-CA5C-4EFB-94AF-FF6AB02BA34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External evidence shows LLM risk is a business-control problem.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1E0C4A-3F9E-4929-908D-6C7907EA7C54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6D85D-9016-4431-A82A-147AA7CE8C09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759C1-9937-4E54-A85D-109C6B0E88C9}"/>
              </a:ext>
            </a:extLst>
          </p:cNvPr>
          <p:cNvSpPr>
            <a:spLocks noGrp="1"/>
          </p:cNvSpPr>
          <p:nvPr/>
        </p:nvSpPr>
        <p:spPr>
          <a:xfrm>
            <a:off x="7239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NIST highlights trustworthiness, evaluation, and risk governance.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2DEBA-CDE6-4E81-B50A-471CF0C60B13}"/>
              </a:ext>
            </a:extLst>
          </p:cNvPr>
          <p:cNvSpPr>
            <a:spLocks noGrp="1"/>
          </p:cNvSpPr>
          <p:nvPr/>
        </p:nvSpPr>
        <p:spPr>
          <a:xfrm>
            <a:off x="40671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Hallucination</a:t>
            </a:r>
          </a:p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unsafe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45E18-631F-4713-9898-ADC084A3758D}"/>
              </a:ext>
            </a:extLst>
          </p:cNvPr>
          <p:cNvSpPr>
            <a:spLocks noGrp="1"/>
          </p:cNvSpPr>
          <p:nvPr/>
        </p:nvSpPr>
        <p:spPr>
          <a:xfrm>
            <a:off x="50673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DF513C-AF18-484D-9B7F-A139D75E8A0E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61C31-F500-492A-8F6F-B90D2AA2A41C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E0161D-52A9-4429-8538-E1D7A9D67DB5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OWASP lists prompt injection, leakage, denial of service, and overreliance.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4705F6-1946-4A43-87F4-25C201F2CDF7}"/>
              </a:ext>
            </a:extLst>
          </p:cNvPr>
          <p:cNvSpPr>
            <a:spLocks noGrp="1"/>
          </p:cNvSpPr>
          <p:nvPr/>
        </p:nvSpPr>
        <p:spPr>
          <a:xfrm>
            <a:off x="98202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Data leakage</a:t>
            </a:r>
          </a:p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resource abuse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2DC4E-3776-48C6-A1A8-CFB93EB12322}"/>
              </a:ext>
            </a:extLst>
          </p:cNvPr>
          <p:cNvSpPr>
            <a:spLocks noGrp="1"/>
          </p:cNvSpPr>
          <p:nvPr/>
        </p:nvSpPr>
        <p:spPr>
          <a:xfrm>
            <a:off x="108204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8B8F886-E0FE-41D6-AB94-9E361285568C}"/>
              </a:ext>
            </a:extLst>
          </p:cNvPr>
          <p:cNvSpPr>
            <a:spLocks noGrp="1"/>
          </p:cNvSpPr>
          <p:nvPr/>
        </p:nvSpPr>
        <p:spPr>
          <a:xfrm>
            <a:off x="4953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51B140-4509-46D5-8B13-0B56E8BAA4FF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6D2F8A-B490-4FE1-9519-9876523CC5D8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 media report claimed one firm spent $500M in a month without usage limits.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F4CE7-8CF0-45D3-8229-0BEC7CF5E311}"/>
              </a:ext>
            </a:extLst>
          </p:cNvPr>
          <p:cNvSpPr>
            <a:spLocks noGrp="1"/>
          </p:cNvSpPr>
          <p:nvPr/>
        </p:nvSpPr>
        <p:spPr>
          <a:xfrm>
            <a:off x="40671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Usage without</a:t>
            </a:r>
          </a:p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budgets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6CE5F5-D6B8-4C5C-8775-B50E8CCDDBAE}"/>
              </a:ext>
            </a:extLst>
          </p:cNvPr>
          <p:cNvSpPr>
            <a:spLocks noGrp="1"/>
          </p:cNvSpPr>
          <p:nvPr/>
        </p:nvSpPr>
        <p:spPr>
          <a:xfrm>
            <a:off x="50673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9A6B3B-1629-43D0-AB88-9B1F1EE4FB82}"/>
              </a:ext>
            </a:extLst>
          </p:cNvPr>
          <p:cNvSpPr>
            <a:spLocks noGrp="1"/>
          </p:cNvSpPr>
          <p:nvPr/>
        </p:nvSpPr>
        <p:spPr>
          <a:xfrm>
            <a:off x="62484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73FBCA-3548-46A1-956C-03E8EF7DFD42}"/>
              </a:ext>
            </a:extLst>
          </p:cNvPr>
          <p:cNvSpPr>
            <a:spLocks noGrp="1"/>
          </p:cNvSpPr>
          <p:nvPr/>
        </p:nvSpPr>
        <p:spPr>
          <a:xfrm>
            <a:off x="64770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UPTIME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C62119-9E07-4EFD-BA1D-C65FF88D296F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Research studied 156 severe AI inference incidents; failures and timeouts dominated.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AF96F-1303-4120-927E-8B52D2BACA59}"/>
              </a:ext>
            </a:extLst>
          </p:cNvPr>
          <p:cNvSpPr>
            <a:spLocks noGrp="1"/>
          </p:cNvSpPr>
          <p:nvPr/>
        </p:nvSpPr>
        <p:spPr>
          <a:xfrm>
            <a:off x="98202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Timeouts</a:t>
            </a:r>
          </a:p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service 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3DB86B-8FFE-469D-B7AC-4FBF1E86C9CB}"/>
              </a:ext>
            </a:extLst>
          </p:cNvPr>
          <p:cNvSpPr>
            <a:spLocks noGrp="1"/>
          </p:cNvSpPr>
          <p:nvPr/>
        </p:nvSpPr>
        <p:spPr>
          <a:xfrm>
            <a:off x="108204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S5-S6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F0E37-B4CA-4004-A78A-527CA7B4646D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S4 is an anonymous media-reported claim, not a verified company disclosure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A04BC6-2859-4920-A808-5BA377CF0756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572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1CFE66D-F787-45F8-A63F-8FFD86D4B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8D7927AC-DB8A-4C3C-A055-6FBFC00CCEFD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63DC976A-80DA-4933-8622-32BC98F40828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MONITORING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D6F90-3DD6-4AE7-9A46-EFE949EC16E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The final answer hides the chain of decisions that produced it.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726F4B-1453-4412-BBA1-8372C8F52539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568E8-7F48-496D-9162-BE651F7BAD41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80740-840A-4EF0-B1EB-94C741776D98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C5612-ADE9-4537-9335-A5B27D3B90F5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3D7E3C1-9BAC-4F91-9F46-7CAD160B8B48}"/>
              </a:ext>
            </a:extLst>
          </p:cNvPr>
          <p:cNvSpPr>
            <a:spLocks noGrp="1"/>
          </p:cNvSpPr>
          <p:nvPr/>
        </p:nvSpPr>
        <p:spPr>
          <a:xfrm rot="5400000">
            <a:off x="2705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9977B5-1AD4-48E8-8826-D4A28A315FB6}"/>
              </a:ext>
            </a:extLst>
          </p:cNvPr>
          <p:cNvSpPr>
            <a:spLocks noGrp="1"/>
          </p:cNvSpPr>
          <p:nvPr/>
        </p:nvSpPr>
        <p:spPr>
          <a:xfrm>
            <a:off x="2809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E34663-0D00-4359-B0AC-246EDCC9C938}"/>
              </a:ext>
            </a:extLst>
          </p:cNvPr>
          <p:cNvSpPr>
            <a:spLocks noGrp="1"/>
          </p:cNvSpPr>
          <p:nvPr/>
        </p:nvSpPr>
        <p:spPr>
          <a:xfrm>
            <a:off x="2952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D279A4-43C5-4B12-A523-1E934A79FFBB}"/>
              </a:ext>
            </a:extLst>
          </p:cNvPr>
          <p:cNvSpPr>
            <a:spLocks noGrp="1"/>
          </p:cNvSpPr>
          <p:nvPr/>
        </p:nvSpPr>
        <p:spPr>
          <a:xfrm>
            <a:off x="2952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chunks + scores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B53144-4861-417F-9BB4-5433FEEB2FA3}"/>
              </a:ext>
            </a:extLst>
          </p:cNvPr>
          <p:cNvSpPr>
            <a:spLocks noGrp="1"/>
          </p:cNvSpPr>
          <p:nvPr/>
        </p:nvSpPr>
        <p:spPr>
          <a:xfrm>
            <a:off x="4572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9B864113-8C75-425A-B6D4-B28B776319BF}"/>
              </a:ext>
            </a:extLst>
          </p:cNvPr>
          <p:cNvSpPr>
            <a:spLocks noGrp="1"/>
          </p:cNvSpPr>
          <p:nvPr/>
        </p:nvSpPr>
        <p:spPr>
          <a:xfrm rot="5400000">
            <a:off x="4991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1E2BE5-BCB1-4536-BB85-B0A1B6E26016}"/>
              </a:ext>
            </a:extLst>
          </p:cNvPr>
          <p:cNvSpPr>
            <a:spLocks noGrp="1"/>
          </p:cNvSpPr>
          <p:nvPr/>
        </p:nvSpPr>
        <p:spPr>
          <a:xfrm>
            <a:off x="5095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44556-E7C0-4E81-95CA-F0CE5AAC0E90}"/>
              </a:ext>
            </a:extLst>
          </p:cNvPr>
          <p:cNvSpPr>
            <a:spLocks noGrp="1"/>
          </p:cNvSpPr>
          <p:nvPr/>
        </p:nvSpPr>
        <p:spPr>
          <a:xfrm>
            <a:off x="5238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39621-9042-41CD-AEC4-7550F1886CBA}"/>
              </a:ext>
            </a:extLst>
          </p:cNvPr>
          <p:cNvSpPr>
            <a:spLocks noGrp="1"/>
          </p:cNvSpPr>
          <p:nvPr/>
        </p:nvSpPr>
        <p:spPr>
          <a:xfrm>
            <a:off x="5238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version +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977F1B-B815-4186-82CE-FCD584919765}"/>
              </a:ext>
            </a:extLst>
          </p:cNvPr>
          <p:cNvSpPr>
            <a:spLocks noGrp="1"/>
          </p:cNvSpPr>
          <p:nvPr/>
        </p:nvSpPr>
        <p:spPr>
          <a:xfrm>
            <a:off x="6858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7EB6765-8185-4D5E-A5E4-639A558F186B}"/>
              </a:ext>
            </a:extLst>
          </p:cNvPr>
          <p:cNvSpPr>
            <a:spLocks noGrp="1"/>
          </p:cNvSpPr>
          <p:nvPr/>
        </p:nvSpPr>
        <p:spPr>
          <a:xfrm rot="5400000">
            <a:off x="7277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287CF-4968-4F99-AF6F-9FE5156B97A3}"/>
              </a:ext>
            </a:extLst>
          </p:cNvPr>
          <p:cNvSpPr>
            <a:spLocks noGrp="1"/>
          </p:cNvSpPr>
          <p:nvPr/>
        </p:nvSpPr>
        <p:spPr>
          <a:xfrm>
            <a:off x="7381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188873-7209-49EC-B9C6-E179B7DBF375}"/>
              </a:ext>
            </a:extLst>
          </p:cNvPr>
          <p:cNvSpPr>
            <a:spLocks noGrp="1"/>
          </p:cNvSpPr>
          <p:nvPr/>
        </p:nvSpPr>
        <p:spPr>
          <a:xfrm>
            <a:off x="7524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AZURE 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5E022F-2235-421E-926F-D7CC975C7284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tokens +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8EF43A-27A9-4433-A8C0-FAC53F7DCAAC}"/>
              </a:ext>
            </a:extLst>
          </p:cNvPr>
          <p:cNvSpPr>
            <a:spLocks noGrp="1"/>
          </p:cNvSpPr>
          <p:nvPr/>
        </p:nvSpPr>
        <p:spPr>
          <a:xfrm>
            <a:off x="9144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FFF844B-C860-4319-BFC5-FF47F2CD0A95}"/>
              </a:ext>
            </a:extLst>
          </p:cNvPr>
          <p:cNvSpPr>
            <a:spLocks noGrp="1"/>
          </p:cNvSpPr>
          <p:nvPr/>
        </p:nvSpPr>
        <p:spPr>
          <a:xfrm rot="5400000">
            <a:off x="9563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6364187-59F7-43E6-89E2-F9C12DD53D95}"/>
              </a:ext>
            </a:extLst>
          </p:cNvPr>
          <p:cNvSpPr>
            <a:spLocks noGrp="1"/>
          </p:cNvSpPr>
          <p:nvPr/>
        </p:nvSpPr>
        <p:spPr>
          <a:xfrm>
            <a:off x="9667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C8F56A"/>
          </a:solidFill>
          <a:ln w="19050">
            <a:solidFill>
              <a:srgbClr val="C8F56A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6EC945-8747-4AFF-A47C-6A8733145DCA}"/>
              </a:ext>
            </a:extLst>
          </p:cNvPr>
          <p:cNvSpPr>
            <a:spLocks noGrp="1"/>
          </p:cNvSpPr>
          <p:nvPr/>
        </p:nvSpPr>
        <p:spPr>
          <a:xfrm>
            <a:off x="9810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EF9107-EBA4-4BC6-87CA-25F1C9034719}"/>
              </a:ext>
            </a:extLst>
          </p:cNvPr>
          <p:cNvSpPr>
            <a:spLocks noGrp="1"/>
          </p:cNvSpPr>
          <p:nvPr/>
        </p:nvSpPr>
        <p:spPr>
          <a:xfrm>
            <a:off x="9810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DFA07E-1A5A-4C41-88E5-BA100C0DF12A}"/>
              </a:ext>
            </a:extLst>
          </p:cNvPr>
          <p:cNvSpPr>
            <a:spLocks noGrp="1"/>
          </p:cNvSpPr>
          <p:nvPr/>
        </p:nvSpPr>
        <p:spPr>
          <a:xfrm>
            <a:off x="1666875" y="3581400"/>
            <a:ext cx="19050" cy="66675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00CC76-41F7-401E-82B7-BA7837FE07D5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228600" cy="22860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000A4C-2E16-4A8F-B96C-EE28E46CC525}"/>
              </a:ext>
            </a:extLst>
          </p:cNvPr>
          <p:cNvSpPr>
            <a:spLocks noGrp="1"/>
          </p:cNvSpPr>
          <p:nvPr/>
        </p:nvSpPr>
        <p:spPr>
          <a:xfrm>
            <a:off x="1076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wrong source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8F77FE-D737-45D3-9DD6-81C89A508E9F}"/>
              </a:ext>
            </a:extLst>
          </p:cNvPr>
          <p:cNvSpPr>
            <a:spLocks noGrp="1"/>
          </p:cNvSpPr>
          <p:nvPr/>
        </p:nvSpPr>
        <p:spPr>
          <a:xfrm>
            <a:off x="3952875" y="3581400"/>
            <a:ext cx="19050" cy="66675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2722FA-B3FB-4493-834F-873B2016142A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228600" cy="2286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9EE824-0692-457C-9702-C1D1FD441D7F}"/>
              </a:ext>
            </a:extLst>
          </p:cNvPr>
          <p:cNvSpPr>
            <a:spLocks noGrp="1"/>
          </p:cNvSpPr>
          <p:nvPr/>
        </p:nvSpPr>
        <p:spPr>
          <a:xfrm>
            <a:off x="3362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prompt attack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38DCF9-4992-4ED8-81BC-8487FEF3D4D5}"/>
              </a:ext>
            </a:extLst>
          </p:cNvPr>
          <p:cNvSpPr>
            <a:spLocks noGrp="1"/>
          </p:cNvSpPr>
          <p:nvPr/>
        </p:nvSpPr>
        <p:spPr>
          <a:xfrm>
            <a:off x="6238875" y="3581400"/>
            <a:ext cx="19050" cy="66675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640523-03A3-4560-A0BD-AB39B8538B68}"/>
              </a:ext>
            </a:extLst>
          </p:cNvPr>
          <p:cNvSpPr>
            <a:spLocks noGrp="1"/>
          </p:cNvSpPr>
          <p:nvPr/>
        </p:nvSpPr>
        <p:spPr>
          <a:xfrm>
            <a:off x="6134100" y="4191000"/>
            <a:ext cx="228600" cy="2286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DF6578-C7AD-4BBD-B1E7-ADBB73CB5BF4}"/>
              </a:ext>
            </a:extLst>
          </p:cNvPr>
          <p:cNvSpPr>
            <a:spLocks noGrp="1"/>
          </p:cNvSpPr>
          <p:nvPr/>
        </p:nvSpPr>
        <p:spPr>
          <a:xfrm>
            <a:off x="5648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 spike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868AD3-2850-4F70-8331-46E0223E96B4}"/>
              </a:ext>
            </a:extLst>
          </p:cNvPr>
          <p:cNvSpPr>
            <a:spLocks noGrp="1"/>
          </p:cNvSpPr>
          <p:nvPr/>
        </p:nvSpPr>
        <p:spPr>
          <a:xfrm>
            <a:off x="8524875" y="3581400"/>
            <a:ext cx="19050" cy="66675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67529E4-D362-43D7-8975-194024489FB3}"/>
              </a:ext>
            </a:extLst>
          </p:cNvPr>
          <p:cNvSpPr>
            <a:spLocks noGrp="1"/>
          </p:cNvSpPr>
          <p:nvPr/>
        </p:nvSpPr>
        <p:spPr>
          <a:xfrm>
            <a:off x="8420100" y="4191000"/>
            <a:ext cx="228600" cy="2286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385653-4149-4F95-9FA7-91B3E9EB0D70}"/>
              </a:ext>
            </a:extLst>
          </p:cNvPr>
          <p:cNvSpPr>
            <a:spLocks noGrp="1"/>
          </p:cNvSpPr>
          <p:nvPr/>
        </p:nvSpPr>
        <p:spPr>
          <a:xfrm>
            <a:off x="7934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CEF1F9-5163-4A6A-9545-F65C90430814}"/>
              </a:ext>
            </a:extLst>
          </p:cNvPr>
          <p:cNvSpPr>
            <a:spLocks noGrp="1"/>
          </p:cNvSpPr>
          <p:nvPr/>
        </p:nvSpPr>
        <p:spPr>
          <a:xfrm>
            <a:off x="1352550" y="5143500"/>
            <a:ext cx="948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Without traces, teams see only a bad answer. With monitoring, they see the failing stage and the corrective action.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BDE7BE-11AB-4AE4-AC04-1DC2D636C30F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S1 NIST | S2 Microsoft Foundry monitoring | S3 OWASP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FFEE66-9DCA-40D9-A2AE-E196808D8ED9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523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250F2B2-6ACE-4057-B0FA-2342096EE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8CE63FE8-3722-434D-95DA-6F568DB2A69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7562A289-AA06-45F8-9F23-B5A5B17C140B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OBSERVABILITY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651D3-B5EF-4254-83D1-AD9C77AB3756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Microsoft recommends four signals. Our project captures all four.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0C927-2068-4508-B29B-52F182308FA9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A85265-6942-482E-A912-5F0978B6F770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2434B8-BBEB-44A3-829A-12EB69B4B29C}"/>
              </a:ext>
            </a:extLst>
          </p:cNvPr>
          <p:cNvSpPr>
            <a:spLocks noGrp="1"/>
          </p:cNvSpPr>
          <p:nvPr/>
        </p:nvSpPr>
        <p:spPr>
          <a:xfrm>
            <a:off x="5286375" y="184785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3D1AC-C41E-46B5-AE58-F47F3E951804}"/>
              </a:ext>
            </a:extLst>
          </p:cNvPr>
          <p:cNvSpPr>
            <a:spLocks noGrp="1"/>
          </p:cNvSpPr>
          <p:nvPr/>
        </p:nvSpPr>
        <p:spPr>
          <a:xfrm>
            <a:off x="7524750" y="1847850"/>
            <a:ext cx="3905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DECISION ENABLED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875461-6B27-42EA-804C-E17733990639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774AA-937F-4CD4-B761-A4BDC3A0EA0C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95250" cy="72390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B6C041-376A-496C-8D10-CCDC270AB36A}"/>
              </a:ext>
            </a:extLst>
          </p:cNvPr>
          <p:cNvSpPr>
            <a:spLocks noGrp="1"/>
          </p:cNvSpPr>
          <p:nvPr/>
        </p:nvSpPr>
        <p:spPr>
          <a:xfrm>
            <a:off x="742950" y="23145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TOKEN CONSUMPTION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C52998-FA36-4FD2-9ADD-0813BEEE2FD2}"/>
              </a:ext>
            </a:extLst>
          </p:cNvPr>
          <p:cNvSpPr>
            <a:spLocks noGrp="1"/>
          </p:cNvSpPr>
          <p:nvPr/>
        </p:nvSpPr>
        <p:spPr>
          <a:xfrm>
            <a:off x="2905125" y="231457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314,615 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8668BA-A764-4209-B4EF-FF9331A526B7}"/>
              </a:ext>
            </a:extLst>
          </p:cNvPr>
          <p:cNvSpPr>
            <a:spLocks noGrp="1"/>
          </p:cNvSpPr>
          <p:nvPr/>
        </p:nvSpPr>
        <p:spPr>
          <a:xfrm>
            <a:off x="5286375" y="231457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 &amp; Cost tab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869016-324B-41B2-BBE1-0F5D222D3E05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Input/output totals, request cost, version comparison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438E126-E464-4B3B-9D39-C360F2B6E8EE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DE77A5-3164-4E4B-B773-5264AA9431B8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95250" cy="72390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E23430-FB4E-45AD-9FDF-F9DA0B05FDCF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E0D566-1692-495F-A237-B85FDF2D27CD}"/>
              </a:ext>
            </a:extLst>
          </p:cNvPr>
          <p:cNvSpPr>
            <a:spLocks noGrp="1"/>
          </p:cNvSpPr>
          <p:nvPr/>
        </p:nvSpPr>
        <p:spPr>
          <a:xfrm>
            <a:off x="2905125" y="321945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2.23s avg | 4.24s P95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808990-EBBD-4144-9597-BAAF395EB41C}"/>
              </a:ext>
            </a:extLst>
          </p:cNvPr>
          <p:cNvSpPr>
            <a:spLocks noGrp="1"/>
          </p:cNvSpPr>
          <p:nvPr/>
        </p:nvSpPr>
        <p:spPr>
          <a:xfrm>
            <a:off x="5286375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Latency tab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43D374-3BF0-4B31-AEB4-DB391D14CACE}"/>
              </a:ext>
            </a:extLst>
          </p:cNvPr>
          <p:cNvSpPr>
            <a:spLocks noGrp="1"/>
          </p:cNvSpPr>
          <p:nvPr/>
        </p:nvSpPr>
        <p:spPr>
          <a:xfrm>
            <a:off x="7524750" y="317182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Retrieval, LLM, end-to-end, slow-query alerts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2A0AD5-412E-4B2A-AA75-506255EE1F73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B6E0F-51E7-4E4A-A156-40531E25F0ED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95250" cy="7239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9CF345-95A4-4112-B2AA-97DE08B11033}"/>
              </a:ext>
            </a:extLst>
          </p:cNvPr>
          <p:cNvSpPr>
            <a:spLocks noGrp="1"/>
          </p:cNvSpPr>
          <p:nvPr/>
        </p:nvSpPr>
        <p:spPr>
          <a:xfrm>
            <a:off x="742950" y="4124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EXCEPTIONS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2A281A-C930-43E0-94F4-22B15C127E37}"/>
              </a:ext>
            </a:extLst>
          </p:cNvPr>
          <p:cNvSpPr>
            <a:spLocks noGrp="1"/>
          </p:cNvSpPr>
          <p:nvPr/>
        </p:nvSpPr>
        <p:spPr>
          <a:xfrm>
            <a:off x="2905125" y="412432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0 errors | 27 safety flags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01F5A1-8618-4C34-8AA8-6F5ADF903C56}"/>
              </a:ext>
            </a:extLst>
          </p:cNvPr>
          <p:cNvSpPr>
            <a:spLocks noGrp="1"/>
          </p:cNvSpPr>
          <p:nvPr/>
        </p:nvSpPr>
        <p:spPr>
          <a:xfrm>
            <a:off x="5286375" y="412432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Overview + Logs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896D8E-0612-47D1-92C0-3A60F47E0E5D}"/>
              </a:ext>
            </a:extLst>
          </p:cNvPr>
          <p:cNvSpPr>
            <a:spLocks noGrp="1"/>
          </p:cNvSpPr>
          <p:nvPr/>
        </p:nvSpPr>
        <p:spPr>
          <a:xfrm>
            <a:off x="7524750" y="407670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Error codes, safety flags, request-level evidence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0174614-59FA-4263-AC92-8B02DB4E3BF9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20021B-EA33-4325-9C11-5F11FDC2AA77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95250" cy="72390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E0E730-5C60-4713-943D-4805F806488C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RESPONSE QUALITY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6CE4EF-839C-4442-B479-95812BF95B9A}"/>
              </a:ext>
            </a:extLst>
          </p:cNvPr>
          <p:cNvSpPr>
            <a:spLocks noGrp="1"/>
          </p:cNvSpPr>
          <p:nvPr/>
        </p:nvSpPr>
        <p:spPr>
          <a:xfrm>
            <a:off x="2905125" y="50292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8.9% hallucination rate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0E3DBF-8DB7-4357-A550-4C0873B65050}"/>
              </a:ext>
            </a:extLst>
          </p:cNvPr>
          <p:cNvSpPr>
            <a:spLocks noGrp="1"/>
          </p:cNvSpPr>
          <p:nvPr/>
        </p:nvSpPr>
        <p:spPr>
          <a:xfrm>
            <a:off x="5286375" y="502920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RAG Evaluation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5CEF5C-4705-414F-B441-3D2A6EB05C68}"/>
              </a:ext>
            </a:extLst>
          </p:cNvPr>
          <p:cNvSpPr>
            <a:spLocks noGrp="1"/>
          </p:cNvSpPr>
          <p:nvPr/>
        </p:nvSpPr>
        <p:spPr>
          <a:xfrm>
            <a:off x="7524750" y="498157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Relevance, faithfulness, groundedness, edge cases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5E68F4-82B4-41B3-A4DE-63AF6BCFA57D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S2 Microsoft Learn | P1-P2 local reports, generated Jun 10, 2026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1C9135-40C6-47CA-99CA-D0AF6DA1F3B5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283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866C0E4-B095-45BC-AF52-8D795FC278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8E37B064-2D9E-4E0A-84B6-604B1E05919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8768A6CF-6DE0-4837-A122-2623010B8C97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QUALITY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1413D-EAE7-49CE-8A60-F1F6D3B232B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 100% technical success rate still concealed quality risk.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3A77D6-E375-4E0D-A005-E9072A8A38DA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3190875" cy="3333750"/>
          </a:xfrm>
          <a:prstGeom prst="roundRect">
            <a:avLst>
              <a:gd name="adj" fmla="val 2388"/>
            </a:avLst>
          </a:prstGeom>
          <a:solidFill>
            <a:srgbClr val="19243A"/>
          </a:solidFill>
          <a:ln w="19050">
            <a:solidFill>
              <a:srgbClr val="3B48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88FC0-0F1B-436A-8E18-F81D8C2E72B6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BASIC MONITOR SAYS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0448F-5BD5-4C09-B30D-CE0893052830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476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C8F56A"/>
                </a:solidFill>
                <a:latin typeface="Arial Black"/>
                <a:ea typeface="Arial Black"/>
                <a:cs typeface="Arial Black"/>
              </a:defRPr>
            </a:pPr>
            <a:r>
              <a:t>100%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CB2A90-AF0A-4B10-97ED-D6A817D128BB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requests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4D77E-55DB-4CB6-976F-5BC7C5A80977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47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6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No API errors.</a:t>
            </a:r>
          </a:p>
          <a:p>
            <a:pPr algn="l">
              <a:defRPr sz="16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Everything looks healthy.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14BA12-076E-48AD-B074-CA99DB85A52A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STATUS: GREEN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59D593-8FF1-4D1D-96FE-DFEE6F474963}"/>
              </a:ext>
            </a:extLst>
          </p:cNvPr>
          <p:cNvSpPr>
            <a:spLocks noGrp="1"/>
          </p:cNvSpPr>
          <p:nvPr/>
        </p:nvSpPr>
        <p:spPr>
          <a:xfrm>
            <a:off x="4029075" y="2000250"/>
            <a:ext cx="7667625" cy="3333750"/>
          </a:xfrm>
          <a:prstGeom prst="roundRect">
            <a:avLst>
              <a:gd name="adj" fmla="val 2286"/>
            </a:avLst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68964-1FBF-481F-A9E4-1DCDA8379F16}"/>
              </a:ext>
            </a:extLst>
          </p:cNvPr>
          <p:cNvSpPr>
            <a:spLocks noGrp="1"/>
          </p:cNvSpPr>
          <p:nvPr/>
        </p:nvSpPr>
        <p:spPr>
          <a:xfrm>
            <a:off x="4314825" y="22288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LLM MONITORING REVEALS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87559B-AD0C-4251-848A-C3DD27E4F130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19.6%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55D53-51ED-4D16-AA34-F55F2AE0C316}"/>
              </a:ext>
            </a:extLst>
          </p:cNvPr>
          <p:cNvSpPr>
            <a:spLocks noGrp="1"/>
          </p:cNvSpPr>
          <p:nvPr/>
        </p:nvSpPr>
        <p:spPr>
          <a:xfrm>
            <a:off x="438150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low-quality responses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F673D-EAEE-4781-A14B-A86A98DC69F1}"/>
              </a:ext>
            </a:extLst>
          </p:cNvPr>
          <p:cNvSpPr>
            <a:spLocks noGrp="1"/>
          </p:cNvSpPr>
          <p:nvPr/>
        </p:nvSpPr>
        <p:spPr>
          <a:xfrm>
            <a:off x="6715125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9B8AFB"/>
                </a:solidFill>
                <a:latin typeface="Arial Black"/>
                <a:ea typeface="Arial Black"/>
                <a:cs typeface="Arial Black"/>
              </a:defRPr>
            </a:pPr>
            <a:r>
              <a:t>8.9%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D2B62-D4D9-4530-849E-3CCB9ABA3328}"/>
              </a:ext>
            </a:extLst>
          </p:cNvPr>
          <p:cNvSpPr>
            <a:spLocks noGrp="1"/>
          </p:cNvSpPr>
          <p:nvPr/>
        </p:nvSpPr>
        <p:spPr>
          <a:xfrm>
            <a:off x="6715125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hallucination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C686D-3949-405F-A2CC-8B2527CFB319}"/>
              </a:ext>
            </a:extLst>
          </p:cNvPr>
          <p:cNvSpPr>
            <a:spLocks noGrp="1"/>
          </p:cNvSpPr>
          <p:nvPr/>
        </p:nvSpPr>
        <p:spPr>
          <a:xfrm>
            <a:off x="904875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5AD2E6"/>
                </a:solidFill>
                <a:latin typeface="Arial Black"/>
                <a:ea typeface="Arial Black"/>
                <a:cs typeface="Arial Black"/>
              </a:defRPr>
            </a:pPr>
            <a:r>
              <a:t>4.57%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F830FE-4B5B-4468-902A-6EA90D41CB91}"/>
              </a:ext>
            </a:extLst>
          </p:cNvPr>
          <p:cNvSpPr>
            <a:spLocks noGrp="1"/>
          </p:cNvSpPr>
          <p:nvPr/>
        </p:nvSpPr>
        <p:spPr>
          <a:xfrm>
            <a:off x="904875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safety-flag 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426334-48B8-47E3-ADC5-A634A899CC87}"/>
              </a:ext>
            </a:extLst>
          </p:cNvPr>
          <p:cNvSpPr>
            <a:spLocks noGrp="1"/>
          </p:cNvSpPr>
          <p:nvPr/>
        </p:nvSpPr>
        <p:spPr>
          <a:xfrm>
            <a:off x="4333875" y="3781425"/>
            <a:ext cx="7000875" cy="19050"/>
          </a:xfrm>
          <a:prstGeom prst="rect">
            <a:avLst/>
          </a:prstGeom>
          <a:solidFill>
            <a:srgbClr val="D3D5D9"/>
          </a:solidFill>
          <a:ln w="0">
            <a:solidFill>
              <a:srgbClr val="D3D5D9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30DD7F-E3D1-4C51-8208-9CF41CA8E183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4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Worst cases included prompt injection attempts, system-prompt extraction, mixed-language inputs, and ordinary questions with weak faithfulness.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075792-D778-47F2-8CD6-50722843750B}"/>
              </a:ext>
            </a:extLst>
          </p:cNvPr>
          <p:cNvSpPr>
            <a:spLocks noGrp="1"/>
          </p:cNvSpPr>
          <p:nvPr/>
        </p:nvSpPr>
        <p:spPr>
          <a:xfrm>
            <a:off x="4381500" y="4876800"/>
            <a:ext cx="685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446A00"/>
                </a:solidFill>
                <a:latin typeface="Arial"/>
                <a:ea typeface="Arial"/>
                <a:cs typeface="Arial"/>
              </a:defRPr>
            </a:pPr>
            <a:r>
              <a:t>SOLUTION: evaluate outputs, segment failures, and convert edge cases into regression tests.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AC9AA2-9E4B-4B10-9F3C-EA8E7B91DA6B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P2 task7_final_evaluation.json | 179 evaluated requests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D85674-1876-44C3-8ABC-7D8D5B2780B6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252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CBE8EDC-5AC8-4C66-A6BB-3F2BBE4D01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18B52E73-7C30-47ED-B39B-1E778699B1B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19EB6662-7F3D-42CF-8147-514437FD8B97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COST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2890A-119C-4159-A327-1371B743A54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Cost visibility answers “what happened”; governance prevents repeats.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080CFF-5E51-4EFC-BD89-EADC217268FE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4048125" cy="3333750"/>
          </a:xfrm>
          <a:prstGeom prst="roundRect">
            <a:avLst>
              <a:gd name="adj" fmla="val 2286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CBED9-D956-4718-91BF-10532E2978E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REPORTED ISSUE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481384-AA3F-4841-945E-4F4D34681BC4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3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$500M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194A5-4F69-49B6-BAD4-AE9B50E0C2B1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3143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claimed one-month Claude spend</a:t>
            </a:r>
          </a:p>
          <a:p>
            <a:pPr algn="l">
              <a:defRPr sz="15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after employee licenses lacked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DADA0A-BAA7-4A1E-8EDA-25331CD0E5D6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3143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Anonymous media-reported claim; useful as a governance warning.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11264-3DE1-467A-B126-E8CB8C4254FB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PROJECT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2C390-9F7F-4FB9-898A-4FEBFC334A75}"/>
              </a:ext>
            </a:extLst>
          </p:cNvPr>
          <p:cNvSpPr>
            <a:spLocks noGrp="1"/>
          </p:cNvSpPr>
          <p:nvPr/>
        </p:nvSpPr>
        <p:spPr>
          <a:xfrm>
            <a:off x="5095875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$2.1264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1ADFE-4021-40C6-9F78-BF0F7CD1E23D}"/>
              </a:ext>
            </a:extLst>
          </p:cNvPr>
          <p:cNvSpPr>
            <a:spLocks noGrp="1"/>
          </p:cNvSpPr>
          <p:nvPr/>
        </p:nvSpPr>
        <p:spPr>
          <a:xfrm>
            <a:off x="5095875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estimated total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8D515-3D35-41B6-AC09-3F390FF334AC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$0.0036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F5639B-3AB3-45B7-A3BE-6B0399C693E3}"/>
              </a:ext>
            </a:extLst>
          </p:cNvPr>
          <p:cNvSpPr>
            <a:spLocks noGrp="1"/>
          </p:cNvSpPr>
          <p:nvPr/>
        </p:nvSpPr>
        <p:spPr>
          <a:xfrm>
            <a:off x="7524750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average per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974063-4D79-44F5-BA31-8B7FE8E1E8EA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4D7600"/>
                </a:solidFill>
                <a:latin typeface="Arial Black"/>
                <a:ea typeface="Arial Black"/>
                <a:cs typeface="Arial Black"/>
              </a:defRPr>
            </a:pPr>
            <a:r>
              <a:t>1.1%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B31A5-4B3B-4DBD-926F-EEAB8CF6507B}"/>
              </a:ext>
            </a:extLst>
          </p:cNvPr>
          <p:cNvSpPr>
            <a:spLocks noGrp="1"/>
          </p:cNvSpPr>
          <p:nvPr/>
        </p:nvSpPr>
        <p:spPr>
          <a:xfrm>
            <a:off x="9810750" y="28384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v2 cheaper per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59D4C5-44CD-4E70-9F1B-6E8CE3A3BD78}"/>
              </a:ext>
            </a:extLst>
          </p:cNvPr>
          <p:cNvSpPr>
            <a:spLocks noGrp="1"/>
          </p:cNvSpPr>
          <p:nvPr/>
        </p:nvSpPr>
        <p:spPr>
          <a:xfrm>
            <a:off x="5095875" y="3429000"/>
            <a:ext cx="6143625" cy="19050"/>
          </a:xfrm>
          <a:prstGeom prst="rect">
            <a:avLst/>
          </a:prstGeom>
          <a:solidFill>
            <a:srgbClr val="D5D7DB"/>
          </a:solidFill>
          <a:ln w="0">
            <a:solidFill>
              <a:srgbClr val="D5D7DB"/>
            </a:solidFill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D938ED-B11A-4679-B19A-0A5E581B5BD7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DA7267-7C54-4F9F-9B22-06EF7D896DE5}"/>
              </a:ext>
            </a:extLst>
          </p:cNvPr>
          <p:cNvSpPr>
            <a:spLocks noGrp="1"/>
          </p:cNvSpPr>
          <p:nvPr/>
        </p:nvSpPr>
        <p:spPr>
          <a:xfrm>
            <a:off x="51720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1FB3F4-8525-4484-8522-6E9287ED1CFF}"/>
              </a:ext>
            </a:extLst>
          </p:cNvPr>
          <p:cNvSpPr>
            <a:spLocks noGrp="1"/>
          </p:cNvSpPr>
          <p:nvPr/>
        </p:nvSpPr>
        <p:spPr>
          <a:xfrm>
            <a:off x="54959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B197D-2D33-4EF0-947C-AADD1772466E}"/>
              </a:ext>
            </a:extLst>
          </p:cNvPr>
          <p:cNvSpPr>
            <a:spLocks noGrp="1"/>
          </p:cNvSpPr>
          <p:nvPr/>
        </p:nvSpPr>
        <p:spPr>
          <a:xfrm>
            <a:off x="52101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 +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5281C-D773-4CE2-8E3E-2B8327BD833B}"/>
              </a:ext>
            </a:extLst>
          </p:cNvPr>
          <p:cNvSpPr>
            <a:spLocks noGrp="1"/>
          </p:cNvSpPr>
          <p:nvPr/>
        </p:nvSpPr>
        <p:spPr>
          <a:xfrm>
            <a:off x="64484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B8490CC-61A4-463E-997F-16B6F8CAD2B8}"/>
              </a:ext>
            </a:extLst>
          </p:cNvPr>
          <p:cNvSpPr>
            <a:spLocks noGrp="1"/>
          </p:cNvSpPr>
          <p:nvPr/>
        </p:nvSpPr>
        <p:spPr>
          <a:xfrm rot="5400000">
            <a:off x="66008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12AD611-CB46-4F84-80DF-CF4E49C9F825}"/>
              </a:ext>
            </a:extLst>
          </p:cNvPr>
          <p:cNvSpPr>
            <a:spLocks noGrp="1"/>
          </p:cNvSpPr>
          <p:nvPr/>
        </p:nvSpPr>
        <p:spPr>
          <a:xfrm>
            <a:off x="66389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5E6A1C-367A-4B7F-978D-18F9E83AB174}"/>
              </a:ext>
            </a:extLst>
          </p:cNvPr>
          <p:cNvSpPr>
            <a:spLocks noGrp="1"/>
          </p:cNvSpPr>
          <p:nvPr/>
        </p:nvSpPr>
        <p:spPr>
          <a:xfrm>
            <a:off x="67151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A9E8D9-6E23-49DA-A657-E3689E7AEE7B}"/>
              </a:ext>
            </a:extLst>
          </p:cNvPr>
          <p:cNvSpPr>
            <a:spLocks noGrp="1"/>
          </p:cNvSpPr>
          <p:nvPr/>
        </p:nvSpPr>
        <p:spPr>
          <a:xfrm>
            <a:off x="70389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1368A-0B97-4042-9E02-D5215823A9A4}"/>
              </a:ext>
            </a:extLst>
          </p:cNvPr>
          <p:cNvSpPr>
            <a:spLocks noGrp="1"/>
          </p:cNvSpPr>
          <p:nvPr/>
        </p:nvSpPr>
        <p:spPr>
          <a:xfrm>
            <a:off x="67532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daily / user 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E4C16B-CA25-4E7F-A360-184B45523B5C}"/>
              </a:ext>
            </a:extLst>
          </p:cNvPr>
          <p:cNvSpPr>
            <a:spLocks noGrp="1"/>
          </p:cNvSpPr>
          <p:nvPr/>
        </p:nvSpPr>
        <p:spPr>
          <a:xfrm>
            <a:off x="799147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BF298D6-F03A-46B8-BAF3-341D0D6DE5E7}"/>
              </a:ext>
            </a:extLst>
          </p:cNvPr>
          <p:cNvSpPr>
            <a:spLocks noGrp="1"/>
          </p:cNvSpPr>
          <p:nvPr/>
        </p:nvSpPr>
        <p:spPr>
          <a:xfrm rot="5400000">
            <a:off x="814387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BA7EF87-D31B-4D21-B526-0F10C513D1AB}"/>
              </a:ext>
            </a:extLst>
          </p:cNvPr>
          <p:cNvSpPr>
            <a:spLocks noGrp="1"/>
          </p:cNvSpPr>
          <p:nvPr/>
        </p:nvSpPr>
        <p:spPr>
          <a:xfrm>
            <a:off x="81819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33EF4A-515E-488E-A7A2-3ED9FE21D871}"/>
              </a:ext>
            </a:extLst>
          </p:cNvPr>
          <p:cNvSpPr>
            <a:spLocks noGrp="1"/>
          </p:cNvSpPr>
          <p:nvPr/>
        </p:nvSpPr>
        <p:spPr>
          <a:xfrm>
            <a:off x="82581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7809B3-AD9E-426D-811C-ED75901623DB}"/>
              </a:ext>
            </a:extLst>
          </p:cNvPr>
          <p:cNvSpPr>
            <a:spLocks noGrp="1"/>
          </p:cNvSpPr>
          <p:nvPr/>
        </p:nvSpPr>
        <p:spPr>
          <a:xfrm>
            <a:off x="85820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EF6C3E-E442-4166-A400-AD2F3DC9BE72}"/>
              </a:ext>
            </a:extLst>
          </p:cNvPr>
          <p:cNvSpPr>
            <a:spLocks noGrp="1"/>
          </p:cNvSpPr>
          <p:nvPr/>
        </p:nvSpPr>
        <p:spPr>
          <a:xfrm>
            <a:off x="82962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throttle + block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4068BC-F2C1-4826-B5E3-EFC84F4D5B07}"/>
              </a:ext>
            </a:extLst>
          </p:cNvPr>
          <p:cNvSpPr>
            <a:spLocks noGrp="1"/>
          </p:cNvSpPr>
          <p:nvPr/>
        </p:nvSpPr>
        <p:spPr>
          <a:xfrm>
            <a:off x="95345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FE5D625-271A-4C12-9F40-FED1AFD2DFD2}"/>
              </a:ext>
            </a:extLst>
          </p:cNvPr>
          <p:cNvSpPr>
            <a:spLocks noGrp="1"/>
          </p:cNvSpPr>
          <p:nvPr/>
        </p:nvSpPr>
        <p:spPr>
          <a:xfrm rot="5400000">
            <a:off x="96869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BEB18EA-DA19-4D55-8714-3CB900AFEF43}"/>
              </a:ext>
            </a:extLst>
          </p:cNvPr>
          <p:cNvSpPr>
            <a:spLocks noGrp="1"/>
          </p:cNvSpPr>
          <p:nvPr/>
        </p:nvSpPr>
        <p:spPr>
          <a:xfrm>
            <a:off x="97250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049FFF-92D7-4127-B066-779F5FB45ECA}"/>
              </a:ext>
            </a:extLst>
          </p:cNvPr>
          <p:cNvSpPr>
            <a:spLocks noGrp="1"/>
          </p:cNvSpPr>
          <p:nvPr/>
        </p:nvSpPr>
        <p:spPr>
          <a:xfrm>
            <a:off x="98012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1B02C9-F14C-45DF-A167-C93AFA4BE770}"/>
              </a:ext>
            </a:extLst>
          </p:cNvPr>
          <p:cNvSpPr>
            <a:spLocks noGrp="1"/>
          </p:cNvSpPr>
          <p:nvPr/>
        </p:nvSpPr>
        <p:spPr>
          <a:xfrm>
            <a:off x="101250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OPTIMIZE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7D0400-5C04-4C9A-9003-1AD6075C6C62}"/>
              </a:ext>
            </a:extLst>
          </p:cNvPr>
          <p:cNvSpPr>
            <a:spLocks noGrp="1"/>
          </p:cNvSpPr>
          <p:nvPr/>
        </p:nvSpPr>
        <p:spPr>
          <a:xfrm>
            <a:off x="98393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route + compress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391186-3D07-4B31-951B-06A5CCD8C90F}"/>
              </a:ext>
            </a:extLst>
          </p:cNvPr>
          <p:cNvSpPr>
            <a:spLocks noGrp="1"/>
          </p:cNvSpPr>
          <p:nvPr/>
        </p:nvSpPr>
        <p:spPr>
          <a:xfrm>
            <a:off x="5095875" y="5095875"/>
            <a:ext cx="63341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Recommended next step: enforce hard limits by user, team, and day.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765551-CCB0-4628-AF25-0BA88230410A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S4 Tom's Hardware/Axios report | P1 project tracking report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085F3A-4531-43D8-9E29-840F4DC53C4E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918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043989D-FB7C-43A6-8D00-688B134F0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F8B6D8A0-AAFB-454E-9901-0E536943B374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3B341F0D-613C-4AE3-A02A-A03E5FCCEA27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444D2-A352-4849-A667-996F3BBBEF3D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Averages hide incidents. Tail latency shows where users feel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F6C6C-B79F-4EA1-83AA-BD9DFA1CE262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3429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PROJECT LATENCY DISTRIBUTION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94280E-998B-4B80-A8A0-8785A004EB28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P50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37A955-2DE0-462B-83D0-ECA21ABBF9F8}"/>
              </a:ext>
            </a:extLst>
          </p:cNvPr>
          <p:cNvSpPr>
            <a:spLocks noGrp="1"/>
          </p:cNvSpPr>
          <p:nvPr/>
        </p:nvSpPr>
        <p:spPr>
          <a:xfrm>
            <a:off x="1190625" y="2400300"/>
            <a:ext cx="1000125" cy="266700"/>
          </a:xfrm>
          <a:prstGeom prst="roundRect">
            <a:avLst>
              <a:gd name="adj" fmla="val 28571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DC8CA-A4EE-4F3D-9941-5E59BAA1F35A}"/>
              </a:ext>
            </a:extLst>
          </p:cNvPr>
          <p:cNvSpPr>
            <a:spLocks noGrp="1"/>
          </p:cNvSpPr>
          <p:nvPr/>
        </p:nvSpPr>
        <p:spPr>
          <a:xfrm>
            <a:off x="2333625" y="23812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1.91s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C07BA-85F7-4121-AFC5-86C31E1E863A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AVG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A9EFD3D-E486-4FE0-A375-C3BDD8B9A95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1171575" cy="266700"/>
          </a:xfrm>
          <a:prstGeom prst="roundRect">
            <a:avLst>
              <a:gd name="adj" fmla="val 28571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6DFB07-1FD4-4F78-BFAB-D049716E495F}"/>
              </a:ext>
            </a:extLst>
          </p:cNvPr>
          <p:cNvSpPr>
            <a:spLocks noGrp="1"/>
          </p:cNvSpPr>
          <p:nvPr/>
        </p:nvSpPr>
        <p:spPr>
          <a:xfrm>
            <a:off x="2505075" y="30099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2.23s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A16B2-D3FA-42A4-B0AD-C47638D24435}"/>
              </a:ext>
            </a:extLst>
          </p:cNvPr>
          <p:cNvSpPr>
            <a:spLocks noGrp="1"/>
          </p:cNvSpPr>
          <p:nvPr/>
        </p:nvSpPr>
        <p:spPr>
          <a:xfrm>
            <a:off x="571500" y="3638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B4A852A-021D-4048-994C-27C5C38798F7}"/>
              </a:ext>
            </a:extLst>
          </p:cNvPr>
          <p:cNvSpPr>
            <a:spLocks noGrp="1"/>
          </p:cNvSpPr>
          <p:nvPr/>
        </p:nvSpPr>
        <p:spPr>
          <a:xfrm>
            <a:off x="1190625" y="3657600"/>
            <a:ext cx="2209800" cy="266700"/>
          </a:xfrm>
          <a:prstGeom prst="roundRect">
            <a:avLst>
              <a:gd name="adj" fmla="val 28571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6DDDF-0836-4B76-B1C8-F5436966F8F1}"/>
              </a:ext>
            </a:extLst>
          </p:cNvPr>
          <p:cNvSpPr>
            <a:spLocks noGrp="1"/>
          </p:cNvSpPr>
          <p:nvPr/>
        </p:nvSpPr>
        <p:spPr>
          <a:xfrm>
            <a:off x="3543300" y="36385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4.24s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49878-0F3A-45DC-9B39-881AD2FBC9A5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2BF69F4-29A0-4B19-A0BD-A97EC3ED865B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3638550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2A680F-58BA-4C81-84D0-B6A9C33B093A}"/>
              </a:ext>
            </a:extLst>
          </p:cNvPr>
          <p:cNvSpPr>
            <a:spLocks noGrp="1"/>
          </p:cNvSpPr>
          <p:nvPr/>
        </p:nvSpPr>
        <p:spPr>
          <a:xfrm>
            <a:off x="4972050" y="42672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6.97s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38A343-6F1F-45D6-81C0-1094F305F8A6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MAX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2B5ED5-F69A-4029-A4C4-B242EF6D1EF0}"/>
              </a:ext>
            </a:extLst>
          </p:cNvPr>
          <p:cNvSpPr>
            <a:spLocks noGrp="1"/>
          </p:cNvSpPr>
          <p:nvPr/>
        </p:nvSpPr>
        <p:spPr>
          <a:xfrm>
            <a:off x="1190625" y="4914900"/>
            <a:ext cx="4905375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78A35A-DA43-4377-BD44-912BF2A7CCAD}"/>
              </a:ext>
            </a:extLst>
          </p:cNvPr>
          <p:cNvSpPr>
            <a:spLocks noGrp="1"/>
          </p:cNvSpPr>
          <p:nvPr/>
        </p:nvSpPr>
        <p:spPr>
          <a:xfrm>
            <a:off x="6238875" y="48958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12.10s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6F67CDE-3912-4E43-BE67-89122EE73BB2}"/>
              </a:ext>
            </a:extLst>
          </p:cNvPr>
          <p:cNvSpPr>
            <a:spLocks noGrp="1"/>
          </p:cNvSpPr>
          <p:nvPr/>
        </p:nvSpPr>
        <p:spPr>
          <a:xfrm>
            <a:off x="7191375" y="2000250"/>
            <a:ext cx="4333875" cy="3143250"/>
          </a:xfrm>
          <a:prstGeom prst="roundRect">
            <a:avLst>
              <a:gd name="adj" fmla="val 2424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50485-1048-4B22-A18F-DD90E78954E1}"/>
              </a:ext>
            </a:extLst>
          </p:cNvPr>
          <p:cNvSpPr>
            <a:spLocks noGrp="1"/>
          </p:cNvSpPr>
          <p:nvPr/>
        </p:nvSpPr>
        <p:spPr>
          <a:xfrm>
            <a:off x="7477125" y="22098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WHAT INDUSTRY INCIDENTS SHOW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436BD3-C5FE-43C2-9C06-2D4D3CFF4414}"/>
              </a:ext>
            </a:extLst>
          </p:cNvPr>
          <p:cNvSpPr>
            <a:spLocks noGrp="1"/>
          </p:cNvSpPr>
          <p:nvPr/>
        </p:nvSpPr>
        <p:spPr>
          <a:xfrm>
            <a:off x="7477125" y="2571750"/>
            <a:ext cx="3429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156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159E16-26C7-4766-ABDA-6F88A2C901A6}"/>
              </a:ext>
            </a:extLst>
          </p:cNvPr>
          <p:cNvSpPr>
            <a:spLocks noGrp="1"/>
          </p:cNvSpPr>
          <p:nvPr/>
        </p:nvSpPr>
        <p:spPr>
          <a:xfrm>
            <a:off x="7477125" y="31051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high-severity incidents studied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1D8A3D-8FED-465D-BFBB-C4A6D8EE7712}"/>
              </a:ext>
            </a:extLst>
          </p:cNvPr>
          <p:cNvSpPr>
            <a:spLocks noGrp="1"/>
          </p:cNvSpPr>
          <p:nvPr/>
        </p:nvSpPr>
        <p:spPr>
          <a:xfrm>
            <a:off x="7477125" y="36480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~60%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B7FBC7-FC0B-4C45-BDCC-C883654787F1}"/>
              </a:ext>
            </a:extLst>
          </p:cNvPr>
          <p:cNvSpPr>
            <a:spLocks noGrp="1"/>
          </p:cNvSpPr>
          <p:nvPr/>
        </p:nvSpPr>
        <p:spPr>
          <a:xfrm>
            <a:off x="8715375" y="36480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inference-engine failures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77A35F-E7B9-4ED6-8BD2-568ABAEE7AFC}"/>
              </a:ext>
            </a:extLst>
          </p:cNvPr>
          <p:cNvSpPr>
            <a:spLocks noGrp="1"/>
          </p:cNvSpPr>
          <p:nvPr/>
        </p:nvSpPr>
        <p:spPr>
          <a:xfrm>
            <a:off x="7477125" y="41814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~40%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93280C-90CC-483D-970A-D4E9EC1C24B2}"/>
              </a:ext>
            </a:extLst>
          </p:cNvPr>
          <p:cNvSpPr>
            <a:spLocks noGrp="1"/>
          </p:cNvSpPr>
          <p:nvPr/>
        </p:nvSpPr>
        <p:spPr>
          <a:xfrm>
            <a:off x="8715375" y="41814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timeouts within that category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2F92BE-4F61-4F9A-9F40-3B672357CE9A}"/>
              </a:ext>
            </a:extLst>
          </p:cNvPr>
          <p:cNvSpPr>
            <a:spLocks noGrp="1"/>
          </p:cNvSpPr>
          <p:nvPr/>
        </p:nvSpPr>
        <p:spPr>
          <a:xfrm>
            <a:off x="7477125" y="459105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SOLUTION: alert on P95/P99, isolate dependencies, add fallback routing, and retain trace evidence.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9517FA-03ED-4C1D-9408-9363480BDE8F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S5-S6 incident research | P1 project latency report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7E0891-B915-432F-B69D-F6A272932802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215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176F7-5067-42C6-875D-B40925F34A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95D13A4C-7497-4903-8A9A-EE324356D7F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58192BA2-5552-40AC-B1D3-39DEDBE4A012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2597E-F8E0-4E9D-B89E-AADD848C0426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Silent embedding change can break retrieval before the app throws an error.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EE02F-42DE-4711-AC4B-C1203DBE0C03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THREE MEASUREMENT RUNS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72701-D72C-4BB4-8F89-670C57C10761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8096250" cy="47625"/>
          </a:xfrm>
          <a:prstGeom prst="rect">
            <a:avLst/>
          </a:prstGeom>
          <a:solidFill>
            <a:srgbClr val="BFC4CB"/>
          </a:solidFill>
          <a:ln w="0">
            <a:solidFill>
              <a:srgbClr val="BFC4CB"/>
            </a:solidFill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6ED932-04B2-43D6-B1BF-8507FAD4DF56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19AF3-AFE0-4780-B94D-164D3EE1A2D5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DADB7-1339-4EFD-9BC9-8A10D484CF6A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D3F579-5609-4F41-A544-9628BC8D7AD7}"/>
              </a:ext>
            </a:extLst>
          </p:cNvPr>
          <p:cNvSpPr>
            <a:spLocks noGrp="1"/>
          </p:cNvSpPr>
          <p:nvPr/>
        </p:nvSpPr>
        <p:spPr>
          <a:xfrm>
            <a:off x="10001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DAD2F4-AA37-4E68-8DB6-DF4ADCA527AF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9A8E9-0E93-47C6-A9A5-07B76F926012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8151D-DA47-40F1-B618-21F8DF27BF8F}"/>
              </a:ext>
            </a:extLst>
          </p:cNvPr>
          <p:cNvSpPr>
            <a:spLocks noGrp="1"/>
          </p:cNvSpPr>
          <p:nvPr/>
        </p:nvSpPr>
        <p:spPr>
          <a:xfrm>
            <a:off x="452437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CHANGED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9CE74-1CDC-4A01-A590-E2D7457A898A}"/>
              </a:ext>
            </a:extLst>
          </p:cNvPr>
          <p:cNvSpPr>
            <a:spLocks noGrp="1"/>
          </p:cNvSpPr>
          <p:nvPr/>
        </p:nvSpPr>
        <p:spPr>
          <a:xfrm>
            <a:off x="452437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F5C6CB-E771-495D-881B-F889771DEC1D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0B66C-1322-42D0-912D-4464E9E7E95E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808704-81CA-44FA-ADA0-EB1553F7963F}"/>
              </a:ext>
            </a:extLst>
          </p:cNvPr>
          <p:cNvSpPr>
            <a:spLocks noGrp="1"/>
          </p:cNvSpPr>
          <p:nvPr/>
        </p:nvSpPr>
        <p:spPr>
          <a:xfrm>
            <a:off x="80486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LATEST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36C5C4-9EDA-4925-9BC9-EE5754FF3E92}"/>
              </a:ext>
            </a:extLst>
          </p:cNvPr>
          <p:cNvSpPr>
            <a:spLocks noGrp="1"/>
          </p:cNvSpPr>
          <p:nvPr/>
        </p:nvSpPr>
        <p:spPr>
          <a:xfrm>
            <a:off x="80486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9CD80D6-C408-48BF-B8FD-47751969F16D}"/>
              </a:ext>
            </a:extLst>
          </p:cNvPr>
          <p:cNvSpPr>
            <a:spLocks noGrp="1"/>
          </p:cNvSpPr>
          <p:nvPr/>
        </p:nvSpPr>
        <p:spPr>
          <a:xfrm>
            <a:off x="9525000" y="2114550"/>
            <a:ext cx="2000250" cy="264795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3BD257-01C4-480F-9AE6-8AA4BBDD127D}"/>
              </a:ext>
            </a:extLst>
          </p:cNvPr>
          <p:cNvSpPr>
            <a:spLocks noGrp="1"/>
          </p:cNvSpPr>
          <p:nvPr/>
        </p:nvSpPr>
        <p:spPr>
          <a:xfrm>
            <a:off x="9734550" y="230505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MONITORING RESPONSE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C37E3-EE4B-4FAE-B71A-8ECF59E4ED54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1. Freeze deployment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A404A3-F1D7-47AA-BF15-1EF697A86F1E}"/>
              </a:ext>
            </a:extLst>
          </p:cNvPr>
          <p:cNvSpPr>
            <a:spLocks noGrp="1"/>
          </p:cNvSpPr>
          <p:nvPr/>
        </p:nvSpPr>
        <p:spPr>
          <a:xfrm>
            <a:off x="9715500" y="330517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2. Compare embedding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6CA73-48C9-4FF4-8788-FC7FDCC7FE91}"/>
              </a:ext>
            </a:extLst>
          </p:cNvPr>
          <p:cNvSpPr>
            <a:spLocks noGrp="1"/>
          </p:cNvSpPr>
          <p:nvPr/>
        </p:nvSpPr>
        <p:spPr>
          <a:xfrm>
            <a:off x="9715500" y="37528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3. Rebuild baseline if approved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7169D5-C4B7-4BBC-8D66-902680DF0385}"/>
              </a:ext>
            </a:extLst>
          </p:cNvPr>
          <p:cNvSpPr>
            <a:spLocks noGrp="1"/>
          </p:cNvSpPr>
          <p:nvPr/>
        </p:nvSpPr>
        <p:spPr>
          <a:xfrm>
            <a:off x="9715500" y="42005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4. Re-index and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B9786F-09A4-4938-87BC-A8AA4C49EA73}"/>
              </a:ext>
            </a:extLst>
          </p:cNvPr>
          <p:cNvSpPr>
            <a:spLocks noGrp="1"/>
          </p:cNvSpPr>
          <p:nvPr/>
        </p:nvSpPr>
        <p:spPr>
          <a:xfrm>
            <a:off x="1828800" y="4905375"/>
            <a:ext cx="7810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 across 60 measured queries made the hidden change visible.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3E9196-5128-4115-8228-CB58AEE085EA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P2 drift analysis: 3 runs, 60 queries, 20 anomalies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30E6F4-C589-4D16-B9DC-E8FF5CC3E5C5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163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B11D6AD-1CC1-48AC-816B-20DF3A98C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7FA1F759-FD34-4F90-9A9D-1129D0D5746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44363553-AF69-4D2E-BDAC-E0E62B6BAEDD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ENTERPRISE USES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BA9FCA-2F65-4364-BA3E-6F96A4E8B4E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Enterprise AI scales when monitoring protects the workflow.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7239D2-0B66-4818-8BD4-7C8F333F2324}"/>
              </a:ext>
            </a:extLst>
          </p:cNvPr>
          <p:cNvSpPr>
            <a:spLocks noGrp="1"/>
          </p:cNvSpPr>
          <p:nvPr/>
        </p:nvSpPr>
        <p:spPr>
          <a:xfrm>
            <a:off x="495300" y="1952625"/>
            <a:ext cx="3714750" cy="3333750"/>
          </a:xfrm>
          <a:prstGeom prst="roundRect">
            <a:avLst>
              <a:gd name="adj" fmla="val 2286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74CED-2ABB-4AE6-9A2C-F732BD476C4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ALLSTATE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D311C-BB8D-45FF-AF4F-863AF586FB4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~50,000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790002-511B-47B2-A7F5-827212FAA55E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2762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daily claimant communications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E32FCE-7A3F-4958-A9CE-FA2748A3A177}"/>
              </a:ext>
            </a:extLst>
          </p:cNvPr>
          <p:cNvSpPr>
            <a:spLocks noGrp="1"/>
          </p:cNvSpPr>
          <p:nvPr/>
        </p:nvSpPr>
        <p:spPr>
          <a:xfrm>
            <a:off x="742950" y="3743325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AI drafts messages; human representatives verify accuracy before they go out.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BD473-E688-486E-98DF-0D350C3F812F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Lesson: automation + grounding + review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535DCD-F861-421C-BE33-905586101AF8}"/>
              </a:ext>
            </a:extLst>
          </p:cNvPr>
          <p:cNvSpPr>
            <a:spLocks noGrp="1"/>
          </p:cNvSpPr>
          <p:nvPr/>
        </p:nvSpPr>
        <p:spPr>
          <a:xfrm>
            <a:off x="6619875" y="2838450"/>
            <a:ext cx="2000250" cy="200025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DD0E92-3C37-48DC-B95E-F701052661F0}"/>
              </a:ext>
            </a:extLst>
          </p:cNvPr>
          <p:cNvSpPr>
            <a:spLocks noGrp="1"/>
          </p:cNvSpPr>
          <p:nvPr/>
        </p:nvSpPr>
        <p:spPr>
          <a:xfrm>
            <a:off x="7096125" y="3314700"/>
            <a:ext cx="1047750" cy="1047750"/>
          </a:xfrm>
          <a:prstGeom prst="ellips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DC73AB-35B1-405C-B0EC-D72880913849}"/>
              </a:ext>
            </a:extLst>
          </p:cNvPr>
          <p:cNvSpPr>
            <a:spLocks noGrp="1"/>
          </p:cNvSpPr>
          <p:nvPr/>
        </p:nvSpPr>
        <p:spPr>
          <a:xfrm>
            <a:off x="7096125" y="3314700"/>
            <a:ext cx="1047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SHARED</a:t>
            </a:r>
          </a:p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PLANE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129F32-B74E-4FF8-BCBA-7AE270531F07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FF675C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F9B7D0-8F1B-4C6F-857C-8D3FB7D12F2F}"/>
              </a:ext>
            </a:extLst>
          </p:cNvPr>
          <p:cNvSpPr>
            <a:spLocks noGrp="1"/>
          </p:cNvSpPr>
          <p:nvPr/>
        </p:nvSpPr>
        <p:spPr>
          <a:xfrm>
            <a:off x="4905375" y="216217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CUSTOMER CARE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ED53D-32ED-4857-879C-6D112C7A8913}"/>
              </a:ext>
            </a:extLst>
          </p:cNvPr>
          <p:cNvSpPr>
            <a:spLocks noGrp="1"/>
          </p:cNvSpPr>
          <p:nvPr/>
        </p:nvSpPr>
        <p:spPr>
          <a:xfrm>
            <a:off x="4905375" y="24860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quality + escalation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19963DB-79A3-4D9C-AA6D-951F382D05BF}"/>
              </a:ext>
            </a:extLst>
          </p:cNvPr>
          <p:cNvSpPr>
            <a:spLocks noGrp="1"/>
          </p:cNvSpPr>
          <p:nvPr/>
        </p:nvSpPr>
        <p:spPr>
          <a:xfrm>
            <a:off x="4476750" y="4762500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5AD2E6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61F4E-2446-4B62-B7A0-7ADD3163EE84}"/>
              </a:ext>
            </a:extLst>
          </p:cNvPr>
          <p:cNvSpPr>
            <a:spLocks noGrp="1"/>
          </p:cNvSpPr>
          <p:nvPr/>
        </p:nvSpPr>
        <p:spPr>
          <a:xfrm>
            <a:off x="4619625" y="487680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KNOWLEDGE COPILOT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0E1BA6-A054-4EE4-ADCD-1D001774073F}"/>
              </a:ext>
            </a:extLst>
          </p:cNvPr>
          <p:cNvSpPr>
            <a:spLocks noGrp="1"/>
          </p:cNvSpPr>
          <p:nvPr/>
        </p:nvSpPr>
        <p:spPr>
          <a:xfrm>
            <a:off x="4619625" y="52006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grounding + freshness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94EEA34-96BC-409C-9DDF-286DB44F781C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B72631-243C-4D03-886B-0ECA18F8B137}"/>
              </a:ext>
            </a:extLst>
          </p:cNvPr>
          <p:cNvSpPr>
            <a:spLocks noGrp="1"/>
          </p:cNvSpPr>
          <p:nvPr/>
        </p:nvSpPr>
        <p:spPr>
          <a:xfrm>
            <a:off x="8334375" y="487680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COMPLIANCE Q&amp;A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C1DB62-CE2B-41FD-A00A-2669F56206AD}"/>
              </a:ext>
            </a:extLst>
          </p:cNvPr>
          <p:cNvSpPr>
            <a:spLocks noGrp="1"/>
          </p:cNvSpPr>
          <p:nvPr/>
        </p:nvSpPr>
        <p:spPr>
          <a:xfrm>
            <a:off x="8334375" y="52006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safety + audit trail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DF94B8-13E0-4D89-8CAF-9B41E0D45CFB}"/>
              </a:ext>
            </a:extLst>
          </p:cNvPr>
          <p:cNvSpPr>
            <a:spLocks noGrp="1"/>
          </p:cNvSpPr>
          <p:nvPr/>
        </p:nvSpPr>
        <p:spPr>
          <a:xfrm>
            <a:off x="8667750" y="2047875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C8F56A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F5E16F-EA20-4840-AD91-BBC82E05F4E7}"/>
              </a:ext>
            </a:extLst>
          </p:cNvPr>
          <p:cNvSpPr>
            <a:spLocks noGrp="1"/>
          </p:cNvSpPr>
          <p:nvPr/>
        </p:nvSpPr>
        <p:spPr>
          <a:xfrm>
            <a:off x="8810625" y="216217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TECHNICAL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E14BF6-B028-48FF-ADA5-2EF985214FE7}"/>
              </a:ext>
            </a:extLst>
          </p:cNvPr>
          <p:cNvSpPr>
            <a:spLocks noGrp="1"/>
          </p:cNvSpPr>
          <p:nvPr/>
        </p:nvSpPr>
        <p:spPr>
          <a:xfrm>
            <a:off x="8810625" y="24860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latency + failures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5AFA9B-7C41-421C-9224-5864E64C9E95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S7 Wall Street Journal, Feb 10, 2025 | Enterprise use-case mapping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F563F8-AC88-4596-92AA-8AC4DFFDB713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179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7A1FF55-C42B-4FE0-A785-84758F2506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D5F29ADC-281C-4CA3-930B-2194C6F50FB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10CA616C-EF11-4BA3-8BA9-BA30D02B6E14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OUR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7C820-EA43-4429-AACF-FE4A2EAEDA6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Our platform has the monitoring foundation; enforcement is the next step.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D11671-1F86-4A62-9141-AF7F69AADDC0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2E965-400C-4A53-A663-3700FBBA92C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RAG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5470D-4023-4DEA-9BE9-0595234B22DD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FAISS + Azure OpenAI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5B68B-EF5B-46B1-93C2-A7B38A43B172}"/>
              </a:ext>
            </a:extLst>
          </p:cNvPr>
          <p:cNvSpPr>
            <a:spLocks noGrp="1"/>
          </p:cNvSpPr>
          <p:nvPr/>
        </p:nvSpPr>
        <p:spPr>
          <a:xfrm>
            <a:off x="24479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F1948A9-B44F-4BCF-8E5B-A308AF9CE83D}"/>
              </a:ext>
            </a:extLst>
          </p:cNvPr>
          <p:cNvSpPr>
            <a:spLocks noGrp="1"/>
          </p:cNvSpPr>
          <p:nvPr/>
        </p:nvSpPr>
        <p:spPr>
          <a:xfrm rot="5400000">
            <a:off x="26955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765BB66-DC60-4504-B851-68FD347B19CF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216BB-3B74-4FC0-940E-497F13ABBAF6}"/>
              </a:ext>
            </a:extLst>
          </p:cNvPr>
          <p:cNvSpPr>
            <a:spLocks noGrp="1"/>
          </p:cNvSpPr>
          <p:nvPr/>
        </p:nvSpPr>
        <p:spPr>
          <a:xfrm>
            <a:off x="28765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LOGGER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8EB09-80A5-497D-AB22-48468FFC189B}"/>
              </a:ext>
            </a:extLst>
          </p:cNvPr>
          <p:cNvSpPr>
            <a:spLocks noGrp="1"/>
          </p:cNvSpPr>
          <p:nvPr/>
        </p:nvSpPr>
        <p:spPr>
          <a:xfrm>
            <a:off x="28765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CSV + SQLite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A5FFB-E333-4004-8FD8-66B76B5DDE42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0357E98-56C9-4BE8-A5F9-9F1FD3281985}"/>
              </a:ext>
            </a:extLst>
          </p:cNvPr>
          <p:cNvSpPr>
            <a:spLocks noGrp="1"/>
          </p:cNvSpPr>
          <p:nvPr/>
        </p:nvSpPr>
        <p:spPr>
          <a:xfrm rot="5400000">
            <a:off x="49625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F70340-42AA-45C2-A21E-BBBD535A17F0}"/>
              </a:ext>
            </a:extLst>
          </p:cNvPr>
          <p:cNvSpPr>
            <a:spLocks noGrp="1"/>
          </p:cNvSpPr>
          <p:nvPr/>
        </p:nvSpPr>
        <p:spPr>
          <a:xfrm>
            <a:off x="50292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8205D-EECF-435A-9B7D-E959F92C1FD1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2F1F04-CBA8-43AC-8B6C-84460E42E986}"/>
              </a:ext>
            </a:extLst>
          </p:cNvPr>
          <p:cNvSpPr>
            <a:spLocks noGrp="1"/>
          </p:cNvSpPr>
          <p:nvPr/>
        </p:nvSpPr>
        <p:spPr>
          <a:xfrm>
            <a:off x="51435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tokens, cost, 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F7424D-2AAB-42C2-96E4-F30A8A14BDD4}"/>
              </a:ext>
            </a:extLst>
          </p:cNvPr>
          <p:cNvSpPr>
            <a:spLocks noGrp="1"/>
          </p:cNvSpPr>
          <p:nvPr/>
        </p:nvSpPr>
        <p:spPr>
          <a:xfrm>
            <a:off x="69818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B864AEF-9468-41F1-AC7F-C86C714F480B}"/>
              </a:ext>
            </a:extLst>
          </p:cNvPr>
          <p:cNvSpPr>
            <a:spLocks noGrp="1"/>
          </p:cNvSpPr>
          <p:nvPr/>
        </p:nvSpPr>
        <p:spPr>
          <a:xfrm rot="5400000">
            <a:off x="72294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2038A47-C014-461D-B212-4A7EA8F03408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7B690B-7CC9-46E0-98AC-54DDF4458DA8}"/>
              </a:ext>
            </a:extLst>
          </p:cNvPr>
          <p:cNvSpPr>
            <a:spLocks noGrp="1"/>
          </p:cNvSpPr>
          <p:nvPr/>
        </p:nvSpPr>
        <p:spPr>
          <a:xfrm>
            <a:off x="74104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766386-750A-4940-AE54-3233F261D995}"/>
              </a:ext>
            </a:extLst>
          </p:cNvPr>
          <p:cNvSpPr>
            <a:spLocks noGrp="1"/>
          </p:cNvSpPr>
          <p:nvPr/>
        </p:nvSpPr>
        <p:spPr>
          <a:xfrm>
            <a:off x="74104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9750E0-03EA-49B0-8B0E-7B719BFFF230}"/>
              </a:ext>
            </a:extLst>
          </p:cNvPr>
          <p:cNvSpPr>
            <a:spLocks noGrp="1"/>
          </p:cNvSpPr>
          <p:nvPr/>
        </p:nvSpPr>
        <p:spPr>
          <a:xfrm>
            <a:off x="92487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4EC52B4-1E69-4F46-8AF8-38595A392B68}"/>
              </a:ext>
            </a:extLst>
          </p:cNvPr>
          <p:cNvSpPr>
            <a:spLocks noGrp="1"/>
          </p:cNvSpPr>
          <p:nvPr/>
        </p:nvSpPr>
        <p:spPr>
          <a:xfrm rot="5400000">
            <a:off x="94964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4DB1CF-DFB2-49A4-AB64-C559DD48A50A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307C25-3D07-4E02-973D-023E2F2EAE87}"/>
              </a:ext>
            </a:extLst>
          </p:cNvPr>
          <p:cNvSpPr>
            <a:spLocks noGrp="1"/>
          </p:cNvSpPr>
          <p:nvPr/>
        </p:nvSpPr>
        <p:spPr>
          <a:xfrm>
            <a:off x="96774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3734E2-12B5-46FE-8DC0-4C4B81ACD2B4}"/>
              </a:ext>
            </a:extLst>
          </p:cNvPr>
          <p:cNvSpPr>
            <a:spLocks noGrp="1"/>
          </p:cNvSpPr>
          <p:nvPr/>
        </p:nvSpPr>
        <p:spPr>
          <a:xfrm>
            <a:off x="96774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alerts +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B97211-BA88-44D7-BA8B-31D4D94F16EC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MATURITY ROADMAP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B8CC868-02F5-4400-91BB-FEE39CE1F777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D14F68-EE28-4DFB-864F-5A71791752AE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04F0C9-9D77-4124-ACA3-932D5867075F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Observe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086656-36E7-478C-80FB-F1C5CF7F5D46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dashboards + reports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D29328-EE89-4093-A176-523F94D2A6FF}"/>
              </a:ext>
            </a:extLst>
          </p:cNvPr>
          <p:cNvSpPr>
            <a:spLocks noGrp="1"/>
          </p:cNvSpPr>
          <p:nvPr/>
        </p:nvSpPr>
        <p:spPr>
          <a:xfrm>
            <a:off x="32956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9C1A1-07D1-4AFB-9BE0-652E890FDF01}"/>
              </a:ext>
            </a:extLst>
          </p:cNvPr>
          <p:cNvSpPr>
            <a:spLocks noGrp="1"/>
          </p:cNvSpPr>
          <p:nvPr/>
        </p:nvSpPr>
        <p:spPr>
          <a:xfrm>
            <a:off x="34671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309A04-F010-4E70-91F3-90EE63DDF1C3}"/>
              </a:ext>
            </a:extLst>
          </p:cNvPr>
          <p:cNvSpPr>
            <a:spLocks noGrp="1"/>
          </p:cNvSpPr>
          <p:nvPr/>
        </p:nvSpPr>
        <p:spPr>
          <a:xfrm>
            <a:off x="34671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Control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21DA92-6B51-4493-8CF2-70CA91434222}"/>
              </a:ext>
            </a:extLst>
          </p:cNvPr>
          <p:cNvSpPr>
            <a:spLocks noGrp="1"/>
          </p:cNvSpPr>
          <p:nvPr/>
        </p:nvSpPr>
        <p:spPr>
          <a:xfrm>
            <a:off x="34671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hard budgets + throttling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98CC682-64AD-43EE-8669-96A1F9712EA1}"/>
              </a:ext>
            </a:extLst>
          </p:cNvPr>
          <p:cNvSpPr>
            <a:spLocks noGrp="1"/>
          </p:cNvSpPr>
          <p:nvPr/>
        </p:nvSpPr>
        <p:spPr>
          <a:xfrm>
            <a:off x="60960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CBF78F-E272-4875-B75C-74216609D438}"/>
              </a:ext>
            </a:extLst>
          </p:cNvPr>
          <p:cNvSpPr>
            <a:spLocks noGrp="1"/>
          </p:cNvSpPr>
          <p:nvPr/>
        </p:nvSpPr>
        <p:spPr>
          <a:xfrm>
            <a:off x="62674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THEN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495928-A122-4AB1-B113-3F64BF075FDE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Automate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91FA45-AA03-4D57-BA1C-3FC493276F2A}"/>
              </a:ext>
            </a:extLst>
          </p:cNvPr>
          <p:cNvSpPr>
            <a:spLocks noGrp="1"/>
          </p:cNvSpPr>
          <p:nvPr/>
        </p:nvSpPr>
        <p:spPr>
          <a:xfrm>
            <a:off x="62674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fallbacks + rollback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C30ED4C-6FC4-4D39-958E-4FE9310AE160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22C937-8247-49C8-8081-BA3213471E38}"/>
              </a:ext>
            </a:extLst>
          </p:cNvPr>
          <p:cNvSpPr>
            <a:spLocks noGrp="1"/>
          </p:cNvSpPr>
          <p:nvPr/>
        </p:nvSpPr>
        <p:spPr>
          <a:xfrm>
            <a:off x="90678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SCALE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DCF616-4789-4C50-AE79-80C3B47C048C}"/>
              </a:ext>
            </a:extLst>
          </p:cNvPr>
          <p:cNvSpPr>
            <a:spLocks noGrp="1"/>
          </p:cNvSpPr>
          <p:nvPr/>
        </p:nvSpPr>
        <p:spPr>
          <a:xfrm>
            <a:off x="90678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Govern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0BD242-D588-4AE3-AECB-F4284EEC08B2}"/>
              </a:ext>
            </a:extLst>
          </p:cNvPr>
          <p:cNvSpPr>
            <a:spLocks noGrp="1"/>
          </p:cNvSpPr>
          <p:nvPr/>
        </p:nvSpPr>
        <p:spPr>
          <a:xfrm>
            <a:off x="90678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owners + SLOs + audit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751CE3-795D-4B55-8245-16C837BA9B2E}"/>
              </a:ext>
            </a:extLst>
          </p:cNvPr>
          <p:cNvSpPr>
            <a:spLocks noGrp="1"/>
          </p:cNvSpPr>
          <p:nvPr/>
        </p:nvSpPr>
        <p:spPr>
          <a:xfrm>
            <a:off x="1809750" y="5657850"/>
            <a:ext cx="857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5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Monitoring is the evidence layer that makes automated control safe.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03398C-AC62-47DF-984A-8A3D99ABAE3E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Project architecture: README.md, dashboard.py, src/*.py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0837450-837B-4224-938B-DAF65048A06D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970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50A1FBA-9162-4A30-A8B8-DB1FB866A4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219960DA-4287-415F-8F3E-382E9CAB4316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46557B57-76C2-4F71-976E-6CCBECA8B59C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D6E5B-1659-4968-96A4-3CF3F204F5C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Reading list and evidence used in this briefing.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C963AC-17DC-4912-85C0-8336CC4A0126}"/>
              </a:ext>
            </a:extLst>
          </p:cNvPr>
          <p:cNvSpPr>
            <a:spLocks noGrp="1"/>
          </p:cNvSpPr>
          <p:nvPr/>
        </p:nvSpPr>
        <p:spPr>
          <a:xfrm>
            <a:off x="49530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48BA9-68AF-469A-8E21-18B0AA6465B7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1B9159-920A-4D75-9063-69F991188D93}"/>
              </a:ext>
            </a:extLst>
          </p:cNvPr>
          <p:cNvSpPr>
            <a:spLocks noGrp="1"/>
          </p:cNvSpPr>
          <p:nvPr/>
        </p:nvSpPr>
        <p:spPr>
          <a:xfrm>
            <a:off x="120967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NIST AI 600-1: Generative AI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30E77F-C97D-4B12-8C32-ACDFD74C3417}"/>
              </a:ext>
            </a:extLst>
          </p:cNvPr>
          <p:cNvSpPr>
            <a:spLocks noGrp="1"/>
          </p:cNvSpPr>
          <p:nvPr/>
        </p:nvSpPr>
        <p:spPr>
          <a:xfrm>
            <a:off x="120967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nist.gov/publications/artificial-intelligence-risk-management-framework-generative-artificial-intelligence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FA773A-D3E6-4847-BC73-54068FA4D836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8991F1-53C0-47A9-9A88-E27A459BDBCD}"/>
              </a:ext>
            </a:extLst>
          </p:cNvPr>
          <p:cNvSpPr>
            <a:spLocks noGrp="1"/>
          </p:cNvSpPr>
          <p:nvPr/>
        </p:nvSpPr>
        <p:spPr>
          <a:xfrm>
            <a:off x="64770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68541-24DA-40AB-8BFD-7BABBBF11361}"/>
              </a:ext>
            </a:extLst>
          </p:cNvPr>
          <p:cNvSpPr>
            <a:spLocks noGrp="1"/>
          </p:cNvSpPr>
          <p:nvPr/>
        </p:nvSpPr>
        <p:spPr>
          <a:xfrm>
            <a:off x="120967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Microsoft: Monitor generative AI applications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7B15E7-54EF-4AC2-B322-D841EB47616F}"/>
              </a:ext>
            </a:extLst>
          </p:cNvPr>
          <p:cNvSpPr>
            <a:spLocks noGrp="1"/>
          </p:cNvSpPr>
          <p:nvPr/>
        </p:nvSpPr>
        <p:spPr>
          <a:xfrm>
            <a:off x="120967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learn.microsoft.com/en-us/azure/foundry-classic/how-to/monitor-applications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364116-A015-482D-BA70-9A5B3CD2A176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7B867-6A4C-438D-A201-78CD8029D6E6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608D6-FC0D-415F-8C5D-3B74B5835D43}"/>
              </a:ext>
            </a:extLst>
          </p:cNvPr>
          <p:cNvSpPr>
            <a:spLocks noGrp="1"/>
          </p:cNvSpPr>
          <p:nvPr/>
        </p:nvSpPr>
        <p:spPr>
          <a:xfrm>
            <a:off x="120967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OWASP Top 10 for LLM Applications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8E5A38-1FD3-4BA4-9F2A-EC6803D95556}"/>
              </a:ext>
            </a:extLst>
          </p:cNvPr>
          <p:cNvSpPr>
            <a:spLocks noGrp="1"/>
          </p:cNvSpPr>
          <p:nvPr/>
        </p:nvSpPr>
        <p:spPr>
          <a:xfrm>
            <a:off x="120967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owasp.org/www-project-top-10-for-large-language-model-applications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3FD6D8-B0CD-4B49-B476-CB498C01161A}"/>
              </a:ext>
            </a:extLst>
          </p:cNvPr>
          <p:cNvSpPr>
            <a:spLocks noGrp="1"/>
          </p:cNvSpPr>
          <p:nvPr/>
        </p:nvSpPr>
        <p:spPr>
          <a:xfrm>
            <a:off x="49530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31C1B8-CBD1-46EE-BF31-086786CD43B8}"/>
              </a:ext>
            </a:extLst>
          </p:cNvPr>
          <p:cNvSpPr>
            <a:spLocks noGrp="1"/>
          </p:cNvSpPr>
          <p:nvPr/>
        </p:nvSpPr>
        <p:spPr>
          <a:xfrm>
            <a:off x="64770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3A02EF-40E7-4679-A31E-02734A19E15F}"/>
              </a:ext>
            </a:extLst>
          </p:cNvPr>
          <p:cNvSpPr>
            <a:spLocks noGrp="1"/>
          </p:cNvSpPr>
          <p:nvPr/>
        </p:nvSpPr>
        <p:spPr>
          <a:xfrm>
            <a:off x="120967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Tom's Hardware / Axios-reported anonymous Claude cost claim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16C0C-A6E3-4722-BCB0-A4DB1D37EE8D}"/>
              </a:ext>
            </a:extLst>
          </p:cNvPr>
          <p:cNvSpPr>
            <a:spLocks noGrp="1"/>
          </p:cNvSpPr>
          <p:nvPr/>
        </p:nvSpPr>
        <p:spPr>
          <a:xfrm>
            <a:off x="120967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tomshardware.com/.../mystery-company-accidentally-blew-usd500-million-on-claude...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FD2E1B-9C74-4F8A-A87F-A6F901660B2A}"/>
              </a:ext>
            </a:extLst>
          </p:cNvPr>
          <p:cNvSpPr>
            <a:spLocks noGrp="1"/>
          </p:cNvSpPr>
          <p:nvPr/>
        </p:nvSpPr>
        <p:spPr>
          <a:xfrm>
            <a:off x="622935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FEDB45-3610-4638-9F12-CBAB0572CAEC}"/>
              </a:ext>
            </a:extLst>
          </p:cNvPr>
          <p:cNvSpPr>
            <a:spLocks noGrp="1"/>
          </p:cNvSpPr>
          <p:nvPr/>
        </p:nvSpPr>
        <p:spPr>
          <a:xfrm>
            <a:off x="638175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4C213C-7425-4BB3-AA28-96359A3381FC}"/>
              </a:ext>
            </a:extLst>
          </p:cNvPr>
          <p:cNvSpPr>
            <a:spLocks noGrp="1"/>
          </p:cNvSpPr>
          <p:nvPr/>
        </p:nvSpPr>
        <p:spPr>
          <a:xfrm>
            <a:off x="694372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Enhancing reliability in AI inference services: 156 incidents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F4F443-7020-488B-ADD1-13CED924E7B3}"/>
              </a:ext>
            </a:extLst>
          </p:cNvPr>
          <p:cNvSpPr>
            <a:spLocks noGrp="1"/>
          </p:cNvSpPr>
          <p:nvPr/>
        </p:nvSpPr>
        <p:spPr>
          <a:xfrm>
            <a:off x="694372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arxiv.org/abs/2511.07424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BD26563-1F73-44AD-9E1F-227555E2BFDA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765BAA-25EE-46F4-88F9-50BAB3CB494F}"/>
              </a:ext>
            </a:extLst>
          </p:cNvPr>
          <p:cNvSpPr>
            <a:spLocks noGrp="1"/>
          </p:cNvSpPr>
          <p:nvPr/>
        </p:nvSpPr>
        <p:spPr>
          <a:xfrm>
            <a:off x="638175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323BB-5062-4F63-B289-98D63D70F974}"/>
              </a:ext>
            </a:extLst>
          </p:cNvPr>
          <p:cNvSpPr>
            <a:spLocks noGrp="1"/>
          </p:cNvSpPr>
          <p:nvPr/>
        </p:nvSpPr>
        <p:spPr>
          <a:xfrm>
            <a:off x="694372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Production incidents in Generative AI cloud 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B963C3-9422-4595-B915-8805E5896A7E}"/>
              </a:ext>
            </a:extLst>
          </p:cNvPr>
          <p:cNvSpPr>
            <a:spLocks noGrp="1"/>
          </p:cNvSpPr>
          <p:nvPr/>
        </p:nvSpPr>
        <p:spPr>
          <a:xfrm>
            <a:off x="694372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arxiv.org/abs/2504.08865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555D604-67BA-47CA-A0F3-5B34D5366A26}"/>
              </a:ext>
            </a:extLst>
          </p:cNvPr>
          <p:cNvSpPr>
            <a:spLocks noGrp="1"/>
          </p:cNvSpPr>
          <p:nvPr/>
        </p:nvSpPr>
        <p:spPr>
          <a:xfrm>
            <a:off x="622935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1EB204-C8CE-427B-903F-D8A45F30CCBE}"/>
              </a:ext>
            </a:extLst>
          </p:cNvPr>
          <p:cNvSpPr>
            <a:spLocks noGrp="1"/>
          </p:cNvSpPr>
          <p:nvPr/>
        </p:nvSpPr>
        <p:spPr>
          <a:xfrm>
            <a:off x="638175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6DF7FD-1470-46A9-924F-0633BCC87B75}"/>
              </a:ext>
            </a:extLst>
          </p:cNvPr>
          <p:cNvSpPr>
            <a:spLocks noGrp="1"/>
          </p:cNvSpPr>
          <p:nvPr/>
        </p:nvSpPr>
        <p:spPr>
          <a:xfrm>
            <a:off x="694372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WSJ: Allstate AI-generated claimant communications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00CB21-F3E0-418F-AADC-EDDADDFD8CC3}"/>
              </a:ext>
            </a:extLst>
          </p:cNvPr>
          <p:cNvSpPr>
            <a:spLocks noGrp="1"/>
          </p:cNvSpPr>
          <p:nvPr/>
        </p:nvSpPr>
        <p:spPr>
          <a:xfrm>
            <a:off x="694372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wsj.com/articles/turns-out-ai-is-more-empathetic-than-allstates-insurance-reps-cf5f7c98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8107947-47FD-4122-A5CF-8D7DDA1CE979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F1EF59-9E43-4244-B987-12256D4A6586}"/>
              </a:ext>
            </a:extLst>
          </p:cNvPr>
          <p:cNvSpPr>
            <a:spLocks noGrp="1"/>
          </p:cNvSpPr>
          <p:nvPr/>
        </p:nvSpPr>
        <p:spPr>
          <a:xfrm>
            <a:off x="638175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P1-P2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C247EF-B474-4639-BBFF-433B2F45D810}"/>
              </a:ext>
            </a:extLst>
          </p:cNvPr>
          <p:cNvSpPr>
            <a:spLocks noGrp="1"/>
          </p:cNvSpPr>
          <p:nvPr/>
        </p:nvSpPr>
        <p:spPr>
          <a:xfrm>
            <a:off x="694372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Local project reports generated June 10, 2026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225789-2DC7-46DA-BD15-1EB69697A7B2}"/>
              </a:ext>
            </a:extLst>
          </p:cNvPr>
          <p:cNvSpPr>
            <a:spLocks noGrp="1"/>
          </p:cNvSpPr>
          <p:nvPr/>
        </p:nvSpPr>
        <p:spPr>
          <a:xfrm>
            <a:off x="694372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logs/reports/task3_tracking_report.json; task7_final_evaluation.json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91F6F-344C-4B16-9036-CE636C215FF6}"/>
              </a:ext>
            </a:extLst>
          </p:cNvPr>
          <p:cNvSpPr>
            <a:spLocks noGrp="1"/>
          </p:cNvSpPr>
          <p:nvPr/>
        </p:nvSpPr>
        <p:spPr>
          <a:xfrm>
            <a:off x="495300" y="6038850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Note: S4 is an anonymous media-reported claim, not a verified company disclosure.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B87167-9916-4F74-A6E8-BA86642F0DD5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Accessed June 16, 2026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773AE1-FC22-4E16-AA5D-A6136D5756C5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87407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DocSecurity>0</DocSecurity>
  <PresentationFormat>Widescreen</PresentationFormat>
  <Paragraphs>268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Aadesh Shrivastava</cp:lastModifiedBy>
  <cp:revision>1</cp:revision>
  <dcterms:created xsi:type="dcterms:W3CDTF">2026-06-15T20:10:33Z</dcterms:created>
  <dcterms:modified xsi:type="dcterms:W3CDTF">2026-06-15T20:13:28Z</dcterms:modified>
</cp:coreProperties>
</file>